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554480"/>
            <a:ext cx="10515600" cy="1371600"/>
          </a:xfrm>
          <a:prstGeom prst="rect">
            <a:avLst/>
          </a:prstGeom>
          <a:noFill/>
        </p:spPr>
        <p:txBody>
          <a:bodyPr wrap="square">
            <a:spAutoFit/>
          </a:bodyPr>
          <a:lstStyle/>
          <a:p>
            <a:pPr algn="l">
              <a:spcAft>
                <a:spcPts val="600"/>
              </a:spcAft>
            </a:pPr>
            <a:r>
              <a:rPr sz="4400" b="1" i="0">
                <a:solidFill>
                  <a:srgbClr val="FFFFFF"/>
                </a:solidFill>
                <a:latin typeface="Arial"/>
              </a:rPr>
              <a:t>Rebalancing the kinetochore</a:t>
            </a:r>
          </a:p>
        </p:txBody>
      </p:sp>
      <p:sp>
        <p:nvSpPr>
          <p:cNvPr id="4" name="TextBox 3"/>
          <p:cNvSpPr txBox="1"/>
          <p:nvPr/>
        </p:nvSpPr>
        <p:spPr>
          <a:xfrm>
            <a:off x="822960" y="2697480"/>
            <a:ext cx="10515600" cy="914400"/>
          </a:xfrm>
          <a:prstGeom prst="rect">
            <a:avLst/>
          </a:prstGeom>
          <a:noFill/>
        </p:spPr>
        <p:txBody>
          <a:bodyPr wrap="square">
            <a:spAutoFit/>
          </a:bodyPr>
          <a:lstStyle/>
          <a:p>
            <a:pPr algn="l">
              <a:spcAft>
                <a:spcPts val="600"/>
              </a:spcAft>
            </a:pPr>
            <a:r>
              <a:rPr sz="2600" b="0" i="0">
                <a:solidFill>
                  <a:srgbClr val="C9D6E6"/>
                </a:solidFill>
                <a:latin typeface="Arial"/>
              </a:rPr>
              <a:t>A drug-repurposing case for one child with mosaic variegated aneuploidy</a:t>
            </a:r>
          </a:p>
        </p:txBody>
      </p:sp>
      <p:sp>
        <p:nvSpPr>
          <p:cNvPr id="5" name="TextBox 4"/>
          <p:cNvSpPr txBox="1"/>
          <p:nvPr/>
        </p:nvSpPr>
        <p:spPr>
          <a:xfrm>
            <a:off x="822960" y="3886200"/>
            <a:ext cx="10515600" cy="1737360"/>
          </a:xfrm>
          <a:prstGeom prst="rect">
            <a:avLst/>
          </a:prstGeom>
          <a:noFill/>
        </p:spPr>
        <p:txBody>
          <a:bodyPr wrap="square">
            <a:spAutoFit/>
          </a:bodyPr>
          <a:lstStyle/>
          <a:p>
            <a:pPr algn="l">
              <a:spcAft>
                <a:spcPts val="600"/>
              </a:spcAft>
            </a:pPr>
            <a:r>
              <a:rPr sz="2600" b="0" i="1">
                <a:solidFill>
                  <a:srgbClr val="F79646"/>
                </a:solidFill>
                <a:latin typeface="Arial"/>
              </a:rPr>
              <a:t>“Every cell-cycle drug in clinical use was built to break the cell cycle.</a:t>
            </a:r>
          </a:p>
          <a:p>
            <a:pPr algn="l">
              <a:spcAft>
                <a:spcPts val="600"/>
              </a:spcAft>
            </a:pPr>
            <a:r>
              <a:rPr sz="2600" b="0" i="1">
                <a:solidFill>
                  <a:srgbClr val="F79646"/>
                </a:solidFill>
                <a:latin typeface="Arial"/>
              </a:rPr>
              <a:t>Not one was built to make it work better.”</a:t>
            </a:r>
          </a:p>
        </p:txBody>
      </p:sp>
      <p:sp>
        <p:nvSpPr>
          <p:cNvPr id="6" name="TextBox 5"/>
          <p:cNvSpPr txBox="1"/>
          <p:nvPr/>
        </p:nvSpPr>
        <p:spPr>
          <a:xfrm>
            <a:off x="822960" y="5806440"/>
            <a:ext cx="10515600" cy="457200"/>
          </a:xfrm>
          <a:prstGeom prst="rect">
            <a:avLst/>
          </a:prstGeom>
          <a:noFill/>
        </p:spPr>
        <p:txBody>
          <a:bodyPr wrap="square">
            <a:spAutoFit/>
          </a:bodyPr>
          <a:lstStyle/>
          <a:p>
            <a:pPr algn="l">
              <a:spcAft>
                <a:spcPts val="600"/>
              </a:spcAft>
            </a:pPr>
            <a:r>
              <a:rPr sz="1500" b="0" i="0">
                <a:solidFill>
                  <a:srgbClr val="9FB6CE"/>
                </a:solidFill>
                <a:latin typeface="Arial"/>
              </a:rPr>
              <a:t>MVA Hackathon 2026  ·  Track 2  ·  proband WGS_EX2312012  ·  BUB1B p.Leu737Ter / p.Asn1002Lys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THE PROBLEM: every cell division is a chance to get the chromosome count wrong</a:t>
            </a:r>
          </a:p>
        </p:txBody>
      </p:sp>
      <p:pic>
        <p:nvPicPr>
          <p:cNvPr id="3" name="Picture 2" descr="pap_cycle.png"/>
          <p:cNvPicPr>
            <a:picLocks noChangeAspect="1"/>
          </p:cNvPicPr>
          <p:nvPr/>
        </p:nvPicPr>
        <p:blipFill>
          <a:blip r:embed="rId2"/>
          <a:stretch>
            <a:fillRect/>
          </a:stretch>
        </p:blipFill>
        <p:spPr>
          <a:xfrm>
            <a:off x="1584616" y="987552"/>
            <a:ext cx="9019718" cy="1920240"/>
          </a:xfrm>
          <a:prstGeom prst="rect">
            <a:avLst/>
          </a:prstGeom>
        </p:spPr>
      </p:pic>
      <p:pic>
        <p:nvPicPr>
          <p:cNvPr id="4" name="Picture 3" descr="pap_attach.png"/>
          <p:cNvPicPr>
            <a:picLocks noChangeAspect="1"/>
          </p:cNvPicPr>
          <p:nvPr/>
        </p:nvPicPr>
        <p:blipFill>
          <a:blip r:embed="rId3"/>
          <a:stretch>
            <a:fillRect/>
          </a:stretch>
        </p:blipFill>
        <p:spPr>
          <a:xfrm>
            <a:off x="1168693" y="3063240"/>
            <a:ext cx="3240452" cy="3063240"/>
          </a:xfrm>
          <a:prstGeom prst="rect">
            <a:avLst/>
          </a:prstGeom>
        </p:spPr>
      </p:pic>
      <p:sp>
        <p:nvSpPr>
          <p:cNvPr id="5" name="Rounded Rectangle 4"/>
          <p:cNvSpPr/>
          <p:nvPr/>
        </p:nvSpPr>
        <p:spPr>
          <a:xfrm>
            <a:off x="5577840" y="3063240"/>
            <a:ext cx="6217920" cy="14264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4F81BD"/>
                </a:solidFill>
                <a:latin typeface="Arial"/>
              </a:rPr>
              <a:t>A checkpoint guards the hand-off</a:t>
            </a:r>
          </a:p>
          <a:p>
            <a:pPr algn="l">
              <a:spcAft>
                <a:spcPts val="600"/>
              </a:spcAft>
            </a:pPr>
            <a:r>
              <a:rPr sz="1900" b="0" i="0">
                <a:solidFill>
                  <a:srgbClr val="000000"/>
                </a:solidFill>
                <a:latin typeface="Arial"/>
              </a:rPr>
              <a:t>Each chromosome must grip both poles. Three of the four ways it can attach are wrong, so the cell holds mitosis until every one is right.</a:t>
            </a:r>
          </a:p>
        </p:txBody>
      </p:sp>
      <p:sp>
        <p:nvSpPr>
          <p:cNvPr id="6" name="Rounded Rectangle 5"/>
          <p:cNvSpPr/>
          <p:nvPr/>
        </p:nvSpPr>
        <p:spPr>
          <a:xfrm>
            <a:off x="5577840" y="4700016"/>
            <a:ext cx="6217920" cy="1426464"/>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C0392B"/>
                </a:solidFill>
                <a:latin typeface="Arial"/>
              </a:rPr>
              <a:t>In this child the guard is weak</a:t>
            </a:r>
          </a:p>
          <a:p>
            <a:pPr algn="l">
              <a:spcAft>
                <a:spcPts val="600"/>
              </a:spcAft>
            </a:pPr>
            <a:r>
              <a:rPr sz="1900" b="0" i="0">
                <a:solidFill>
                  <a:srgbClr val="000000"/>
                </a:solidFill>
                <a:latin typeface="Arial"/>
              </a:rPr>
              <a:t>MVA: cells are born with the wrong chromosome count, giving growth failure, microcephaly and childhood cancer risk.</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Bloom &amp; North 2021 PMID 33892776 · McVey 2021 PMID 34445523, CC BY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THE QUESTIONS we made this work answer, before we let ourselves pick anything</a:t>
            </a:r>
          </a:p>
        </p:txBody>
      </p:sp>
      <p:sp>
        <p:nvSpPr>
          <p:cNvPr id="3" name="Rounded Rectangle 2"/>
          <p:cNvSpPr/>
          <p:nvPr/>
        </p:nvSpPr>
        <p:spPr>
          <a:xfrm>
            <a:off x="411480" y="1207008"/>
            <a:ext cx="11384280" cy="115214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4F81BD"/>
                </a:solidFill>
                <a:latin typeface="Arial"/>
              </a:rPr>
              <a:t>1   </a:t>
            </a:r>
            <a:r>
              <a:rPr sz="2300" b="1">
                <a:solidFill>
                  <a:srgbClr val="000000"/>
                </a:solidFill>
                <a:latin typeface="Arial"/>
              </a:rPr>
              <a:t>What do these two alleles actually leave behind?</a:t>
            </a:r>
          </a:p>
          <a:p>
            <a:pPr algn="l">
              <a:spcAft>
                <a:spcPts val="600"/>
              </a:spcAft>
            </a:pPr>
            <a:r>
              <a:rPr sz="1900" b="0" i="0">
                <a:solidFill>
                  <a:srgbClr val="5C5C5C"/>
                </a:solidFill>
                <a:latin typeface="Arial"/>
              </a:rPr>
              <a:t>      Not “pathogenic”. How much protein, and with which domains.</a:t>
            </a:r>
          </a:p>
        </p:txBody>
      </p:sp>
      <p:sp>
        <p:nvSpPr>
          <p:cNvPr id="4" name="Rounded Rectangle 3"/>
          <p:cNvSpPr/>
          <p:nvPr/>
        </p:nvSpPr>
        <p:spPr>
          <a:xfrm>
            <a:off x="411480" y="2459736"/>
            <a:ext cx="11384280" cy="115214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4F81BD"/>
                </a:solidFill>
                <a:latin typeface="Arial"/>
              </a:rPr>
              <a:t>2   </a:t>
            </a:r>
            <a:r>
              <a:rPr sz="2300" b="1">
                <a:solidFill>
                  <a:srgbClr val="000000"/>
                </a:solidFill>
                <a:latin typeface="Arial"/>
              </a:rPr>
              <a:t>Is the deficit reversible at all?</a:t>
            </a:r>
          </a:p>
          <a:p>
            <a:pPr algn="l">
              <a:spcAft>
                <a:spcPts val="600"/>
              </a:spcAft>
            </a:pPr>
            <a:r>
              <a:rPr sz="1900" b="0" i="0">
                <a:solidFill>
                  <a:srgbClr val="5C5C5C"/>
                </a:solidFill>
                <a:latin typeface="Arial"/>
              </a:rPr>
              <a:t>      If restoring BubR1 does nothing, no drug can work. Someone tested this.</a:t>
            </a:r>
          </a:p>
        </p:txBody>
      </p:sp>
      <p:sp>
        <p:nvSpPr>
          <p:cNvPr id="5" name="Rounded Rectangle 4"/>
          <p:cNvSpPr/>
          <p:nvPr/>
        </p:nvSpPr>
        <p:spPr>
          <a:xfrm>
            <a:off x="411480" y="3712464"/>
            <a:ext cx="11384280" cy="115214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F79646"/>
                </a:solidFill>
                <a:latin typeface="Arial"/>
              </a:rPr>
              <a:t>3   </a:t>
            </a:r>
            <a:r>
              <a:rPr sz="2300" b="1">
                <a:solidFill>
                  <a:srgbClr val="000000"/>
                </a:solidFill>
                <a:latin typeface="Arial"/>
              </a:rPr>
              <a:t>Is there any drug that raises BubR1, or its phosphatase?</a:t>
            </a:r>
          </a:p>
          <a:p>
            <a:pPr algn="l">
              <a:spcAft>
                <a:spcPts val="600"/>
              </a:spcAft>
            </a:pPr>
            <a:r>
              <a:rPr sz="1900" b="0" i="0">
                <a:solidFill>
                  <a:srgbClr val="5C5C5C"/>
                </a:solidFill>
                <a:latin typeface="Arial"/>
              </a:rPr>
              <a:t>      Asked across the whole druggable universe, not a shortlist.</a:t>
            </a:r>
          </a:p>
        </p:txBody>
      </p:sp>
      <p:sp>
        <p:nvSpPr>
          <p:cNvPr id="6" name="Rounded Rectangle 5"/>
          <p:cNvSpPr/>
          <p:nvPr/>
        </p:nvSpPr>
        <p:spPr>
          <a:xfrm>
            <a:off x="411480" y="4965192"/>
            <a:ext cx="11384280" cy="115214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00B050"/>
                </a:solidFill>
                <a:latin typeface="Arial"/>
              </a:rPr>
              <a:t>4   </a:t>
            </a:r>
            <a:r>
              <a:rPr sz="2300" b="1">
                <a:solidFill>
                  <a:srgbClr val="000000"/>
                </a:solidFill>
                <a:latin typeface="Arial"/>
              </a:rPr>
              <a:t>If not, what else sits on the same node — and at what dose?</a:t>
            </a:r>
          </a:p>
          <a:p>
            <a:pPr algn="l">
              <a:spcAft>
                <a:spcPts val="600"/>
              </a:spcAft>
            </a:pPr>
            <a:r>
              <a:rPr sz="1900" b="0" i="0">
                <a:solidFill>
                  <a:srgbClr val="5C5C5C"/>
                </a:solidFill>
                <a:latin typeface="Arial"/>
              </a:rPr>
              <a:t>      Answered on measured human exposure, or not answered.</a:t>
            </a:r>
          </a:p>
        </p:txBody>
      </p:sp>
      <p:sp>
        <p:nvSpPr>
          <p:cNvPr id="7" name="TextBox 6"/>
          <p:cNvSpPr txBox="1"/>
          <p:nvPr/>
        </p:nvSpPr>
        <p:spPr>
          <a:xfrm>
            <a:off x="411480" y="6355080"/>
            <a:ext cx="11384280" cy="457200"/>
          </a:xfrm>
          <a:prstGeom prst="rect">
            <a:avLst/>
          </a:prstGeom>
          <a:noFill/>
        </p:spPr>
        <p:txBody>
          <a:bodyPr wrap="square" anchor="ctr">
            <a:spAutoFit/>
          </a:bodyPr>
          <a:lstStyle/>
          <a:p>
            <a:pPr algn="ctr">
              <a:spcAft>
                <a:spcPts val="600"/>
              </a:spcAft>
            </a:pPr>
            <a:r>
              <a:rPr sz="2200" b="1" i="0">
                <a:solidFill>
                  <a:srgbClr val="F79646"/>
                </a:solidFill>
                <a:latin typeface="Arial"/>
              </a:rPr>
              <a:t>Each question had to close before the next one opened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Q1 — Two alleles, and the domain that sits between them</a:t>
            </a:r>
          </a:p>
        </p:txBody>
      </p:sp>
      <p:pic>
        <p:nvPicPr>
          <p:cNvPr id="3" name="Picture 2" descr="fig_domains2.png"/>
          <p:cNvPicPr>
            <a:picLocks noChangeAspect="1"/>
          </p:cNvPicPr>
          <p:nvPr/>
        </p:nvPicPr>
        <p:blipFill>
          <a:blip r:embed="rId2"/>
          <a:stretch>
            <a:fillRect/>
          </a:stretch>
        </p:blipFill>
        <p:spPr>
          <a:xfrm>
            <a:off x="423649" y="1024128"/>
            <a:ext cx="11341652" cy="3611880"/>
          </a:xfrm>
          <a:prstGeom prst="rect">
            <a:avLst/>
          </a:prstGeom>
        </p:spPr>
      </p:pic>
      <p:sp>
        <p:nvSpPr>
          <p:cNvPr id="4" name="Rounded Rectangle 3"/>
          <p:cNvSpPr/>
          <p:nvPr/>
        </p:nvSpPr>
        <p:spPr>
          <a:xfrm>
            <a:off x="411480" y="4773168"/>
            <a:ext cx="3611880" cy="133502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Allele 1 truncates at 737</a:t>
            </a:r>
          </a:p>
          <a:p>
            <a:pPr algn="l">
              <a:spcAft>
                <a:spcPts val="600"/>
              </a:spcAft>
            </a:pPr>
            <a:r>
              <a:rPr sz="1800" b="0" i="0">
                <a:solidFill>
                  <a:srgbClr val="000000"/>
                </a:solidFill>
                <a:latin typeface="Arial"/>
              </a:rPr>
              <a:t>747 nt upstream of the last exon-exon junction, far past the 50-55 nt rule, so the transcript is destroyed.</a:t>
            </a:r>
          </a:p>
        </p:txBody>
      </p:sp>
      <p:sp>
        <p:nvSpPr>
          <p:cNvPr id="5" name="Rounded Rectangle 4"/>
          <p:cNvSpPr/>
          <p:nvPr/>
        </p:nvSpPr>
        <p:spPr>
          <a:xfrm>
            <a:off x="4288536" y="4773168"/>
            <a:ext cx="3611880" cy="133502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Allele 2 is buried, not surface</a:t>
            </a:r>
          </a:p>
          <a:p>
            <a:pPr algn="l">
              <a:spcAft>
                <a:spcPts val="600"/>
              </a:spcAft>
            </a:pPr>
            <a:r>
              <a:rPr sz="1800" b="0" i="0">
                <a:solidFill>
                  <a:srgbClr val="000000"/>
                </a:solidFill>
                <a:latin typeface="Arial"/>
              </a:rPr>
              <a:t>87% buried, so PREDICTED to be made then degraded: a dosage mutant rather than an interface one. Abundance in patient cells is not yet measured.</a:t>
            </a:r>
          </a:p>
        </p:txBody>
      </p:sp>
      <p:sp>
        <p:nvSpPr>
          <p:cNvPr id="6" name="Rounded Rectangle 5"/>
          <p:cNvSpPr/>
          <p:nvPr/>
        </p:nvSpPr>
        <p:spPr>
          <a:xfrm>
            <a:off x="8165592" y="4773168"/>
            <a:ext cx="3611880" cy="133502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F79646"/>
                </a:solidFill>
                <a:latin typeface="Arial"/>
              </a:rPr>
              <a:t>Both land on the KARD</a:t>
            </a:r>
          </a:p>
          <a:p>
            <a:pPr algn="l">
              <a:spcAft>
                <a:spcPts val="600"/>
              </a:spcAft>
            </a:pPr>
            <a:r>
              <a:rPr sz="1800" b="0" i="0">
                <a:solidFill>
                  <a:srgbClr val="000000"/>
                </a:solidFill>
                <a:latin typeface="Arial"/>
              </a:rPr>
              <a:t>667–681: the motif that recruits the phosphatase PP2A-B56.</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Domain layout adapted from Bloom &amp; North 2021, PMID 33892776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SCALABILITY (15%) — we scored every BUB1B allele, not this child's two</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Scalability  </a:t>
            </a:r>
            <a:r>
              <a:rPr sz="1400" b="0">
                <a:solidFill>
                  <a:srgbClr val="5C5C5C"/>
                </a:solidFill>
                <a:latin typeface="Arial"/>
              </a:rPr>
              <a:t>15%</a:t>
            </a:r>
          </a:p>
        </p:txBody>
      </p:sp>
      <p:pic>
        <p:nvPicPr>
          <p:cNvPr id="4" name="Picture 3" descr="fig_scoring.png"/>
          <p:cNvPicPr>
            <a:picLocks noChangeAspect="1"/>
          </p:cNvPicPr>
          <p:nvPr/>
        </p:nvPicPr>
        <p:blipFill>
          <a:blip r:embed="rId2"/>
          <a:stretch>
            <a:fillRect/>
          </a:stretch>
        </p:blipFill>
        <p:spPr>
          <a:xfrm>
            <a:off x="1224448" y="1280160"/>
            <a:ext cx="9740055" cy="3977639"/>
          </a:xfrm>
          <a:prstGeom prst="rect">
            <a:avLst/>
          </a:prstGeom>
        </p:spPr>
      </p:pic>
      <p:sp>
        <p:nvSpPr>
          <p:cNvPr id="5" name="TextBox 4"/>
          <p:cNvSpPr txBox="1"/>
          <p:nvPr/>
        </p:nvSpPr>
        <p:spPr>
          <a:xfrm>
            <a:off x="411480" y="5376672"/>
            <a:ext cx="11384280" cy="868680"/>
          </a:xfrm>
          <a:prstGeom prst="rect">
            <a:avLst/>
          </a:prstGeom>
          <a:noFill/>
        </p:spPr>
        <p:txBody>
          <a:bodyPr wrap="square">
            <a:spAutoFit/>
          </a:bodyPr>
          <a:lstStyle/>
          <a:p>
            <a:pPr algn="ctr">
              <a:spcAft>
                <a:spcPts val="600"/>
              </a:spcAft>
            </a:pPr>
            <a:r>
              <a:rPr sz="2000" b="0" i="0">
                <a:solidFill>
                  <a:srgbClr val="000000"/>
                </a:solidFill>
                <a:latin typeface="Arial"/>
              </a:rPr>
              <a:t>Suijkerbuijk reached the same two classes experimentally: truncating alleles lose the transcript, missense alleles are made and turned over.</a:t>
            </a:r>
          </a:p>
        </p:txBody>
      </p:sp>
      <p:sp>
        <p:nvSpPr>
          <p:cNvPr id="6" name="TextBox 5"/>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Suijkerbuijk et al., Cancer Res 2010, PMID 20516114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Q1 — Aurora B LOOSENS grips on purpose. PP2A-B56 SETS them. This child cannot set.</a:t>
            </a:r>
          </a:p>
        </p:txBody>
      </p:sp>
      <p:pic>
        <p:nvPicPr>
          <p:cNvPr id="3" name="Picture 2" descr="pap_kcmt_annot.png"/>
          <p:cNvPicPr>
            <a:picLocks noChangeAspect="1"/>
          </p:cNvPicPr>
          <p:nvPr/>
        </p:nvPicPr>
        <p:blipFill>
          <a:blip r:embed="rId2"/>
          <a:stretch>
            <a:fillRect/>
          </a:stretch>
        </p:blipFill>
        <p:spPr>
          <a:xfrm>
            <a:off x="966222" y="1097280"/>
            <a:ext cx="3233915" cy="5029200"/>
          </a:xfrm>
          <a:prstGeom prst="rect">
            <a:avLst/>
          </a:prstGeom>
        </p:spPr>
      </p:pic>
      <p:sp>
        <p:nvSpPr>
          <p:cNvPr id="4" name="Rounded Rectangle 3"/>
          <p:cNvSpPr/>
          <p:nvPr/>
        </p:nvSpPr>
        <p:spPr>
          <a:xfrm>
            <a:off x="5074920" y="1152144"/>
            <a:ext cx="6720840" cy="151790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F79646"/>
                </a:solidFill>
                <a:latin typeface="Arial"/>
              </a:rPr>
              <a:t>AURORA B — the loosener</a:t>
            </a:r>
          </a:p>
          <a:p>
            <a:pPr algn="l">
              <a:spcAft>
                <a:spcPts val="600"/>
              </a:spcAft>
            </a:pPr>
            <a:r>
              <a:rPr sz="1800" b="0" i="0">
                <a:solidFill>
                  <a:srgbClr val="000000"/>
                </a:solidFill>
                <a:latin typeface="Arial"/>
              </a:rPr>
              <a:t>It phosphorylates the GRIP (Hec1) holding a chromosome to a microtubule. A phosphorylated grip lets go. That is how wrong attachments get broken.</a:t>
            </a:r>
          </a:p>
        </p:txBody>
      </p:sp>
      <p:sp>
        <p:nvSpPr>
          <p:cNvPr id="5" name="Rounded Rectangle 4"/>
          <p:cNvSpPr/>
          <p:nvPr/>
        </p:nvSpPr>
        <p:spPr>
          <a:xfrm>
            <a:off x="5074920" y="2761488"/>
            <a:ext cx="6720840" cy="151790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00B050"/>
                </a:solidFill>
                <a:latin typeface="Arial"/>
              </a:rPr>
              <a:t>PP2A-B56 — the setter</a:t>
            </a:r>
          </a:p>
          <a:p>
            <a:pPr algn="l">
              <a:spcAft>
                <a:spcPts val="600"/>
              </a:spcAft>
            </a:pPr>
            <a:r>
              <a:rPr sz="1800" b="0" i="0">
                <a:solidFill>
                  <a:srgbClr val="000000"/>
                </a:solidFill>
                <a:latin typeface="Arial"/>
              </a:rPr>
              <a:t>It removes those phosphates so a correct grip can set. Error correction is these two in a tug-of-war, and both are needed.</a:t>
            </a:r>
          </a:p>
        </p:txBody>
      </p:sp>
      <p:sp>
        <p:nvSpPr>
          <p:cNvPr id="6" name="Rounded Rectangle 5"/>
          <p:cNvSpPr/>
          <p:nvPr/>
        </p:nvSpPr>
        <p:spPr>
          <a:xfrm>
            <a:off x="5074920" y="4370832"/>
            <a:ext cx="6720840" cy="950976"/>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800" b="0" i="0">
                <a:solidFill>
                  <a:srgbClr val="000000"/>
                </a:solidFill>
                <a:latin typeface="Arial"/>
              </a:rPr>
              <a:t>BubR1 is the TAXI, not an enzyme. Plk1 puts 3 phosphates in its KARD (shown left, on BubR1): that is the TICKET PP2A-B56 binds. Different phosphates, opposite job to Aurora B's.</a:t>
            </a:r>
          </a:p>
        </p:txBody>
      </p:sp>
      <p:sp>
        <p:nvSpPr>
          <p:cNvPr id="7" name="Rounded Rectangle 6"/>
          <p:cNvSpPr/>
          <p:nvPr/>
        </p:nvSpPr>
        <p:spPr>
          <a:xfrm>
            <a:off x="5074920" y="5413248"/>
            <a:ext cx="6720840" cy="713232"/>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800" b="1" i="0">
                <a:solidFill>
                  <a:srgbClr val="C0392B"/>
                </a:solidFill>
                <a:latin typeface="Arial"/>
              </a:rPr>
              <a:t>No KARD delivered → no setter arrives → Aurora B is not stronger, it is UNOPPOSED. So we lower it to match.</a:t>
            </a:r>
          </a:p>
        </p:txBody>
      </p:sp>
      <p:sp>
        <p:nvSpPr>
          <p:cNvPr id="8" name="TextBox 7"/>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Bloom &amp; North 2021, Fig 2 detail; Aurora B added by us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Q2 — The deficit is reversible: put BubR1 back and the checkpoint recovers</a:t>
            </a:r>
          </a:p>
        </p:txBody>
      </p:sp>
      <p:pic>
        <p:nvPicPr>
          <p:cNvPr id="3" name="Picture 2" descr="pap_rescue.png"/>
          <p:cNvPicPr>
            <a:picLocks noChangeAspect="1"/>
          </p:cNvPicPr>
          <p:nvPr/>
        </p:nvPicPr>
        <p:blipFill>
          <a:blip r:embed="rId2"/>
          <a:stretch>
            <a:fillRect/>
          </a:stretch>
        </p:blipFill>
        <p:spPr>
          <a:xfrm>
            <a:off x="274320" y="1740730"/>
            <a:ext cx="7269479" cy="3696578"/>
          </a:xfrm>
          <a:prstGeom prst="rect">
            <a:avLst/>
          </a:prstGeom>
        </p:spPr>
      </p:pic>
      <p:sp>
        <p:nvSpPr>
          <p:cNvPr id="4" name="Rounded Rectangle 3"/>
          <p:cNvSpPr/>
          <p:nvPr/>
        </p:nvSpPr>
        <p:spPr>
          <a:xfrm>
            <a:off x="7818120" y="1188720"/>
            <a:ext cx="3977639" cy="1572768"/>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This child's genotype shape</a:t>
            </a:r>
          </a:p>
          <a:p>
            <a:pPr algn="l">
              <a:spcAft>
                <a:spcPts val="600"/>
              </a:spcAft>
            </a:pPr>
            <a:r>
              <a:rPr sz="1800" b="0" i="0">
                <a:solidFill>
                  <a:srgbClr val="000000"/>
                </a:solidFill>
                <a:latin typeface="Arial"/>
              </a:rPr>
              <a:t>753X/R814H and 731X/Y155C: one truncating allele, one missense — the MVA pattern.</a:t>
            </a:r>
          </a:p>
        </p:txBody>
      </p:sp>
      <p:sp>
        <p:nvSpPr>
          <p:cNvPr id="5" name="Rounded Rectangle 4"/>
          <p:cNvSpPr/>
          <p:nvPr/>
        </p:nvSpPr>
        <p:spPr>
          <a:xfrm>
            <a:off x="7818120" y="2907792"/>
            <a:ext cx="3977639" cy="1572768"/>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00B050"/>
                </a:solidFill>
                <a:latin typeface="Arial"/>
              </a:rPr>
              <a:t>2.06x and 2.01x</a:t>
            </a:r>
          </a:p>
          <a:p>
            <a:pPr algn="l">
              <a:spcAft>
                <a:spcPts val="600"/>
              </a:spcAft>
            </a:pPr>
            <a:r>
              <a:rPr sz="1800" b="0" i="0">
                <a:solidFill>
                  <a:srgbClr val="000000"/>
                </a:solidFill>
                <a:latin typeface="Arial"/>
              </a:rPr>
              <a:t>Nocodazole arrest doubles when BubR1 is restored. Healthy controls and the carrier parent do not move.</a:t>
            </a:r>
          </a:p>
        </p:txBody>
      </p:sp>
      <p:sp>
        <p:nvSpPr>
          <p:cNvPr id="6" name="Rounded Rectangle 5"/>
          <p:cNvSpPr/>
          <p:nvPr/>
        </p:nvSpPr>
        <p:spPr>
          <a:xfrm>
            <a:off x="7818120" y="4626864"/>
            <a:ext cx="3977639" cy="1499616"/>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F79646"/>
                </a:solidFill>
                <a:latin typeface="Arial"/>
              </a:rPr>
              <a:t>But it does not normalise</a:t>
            </a:r>
          </a:p>
          <a:p>
            <a:pPr algn="l">
              <a:spcAft>
                <a:spcPts val="600"/>
              </a:spcAft>
            </a:pPr>
            <a:r>
              <a:rPr sz="1800" b="0" i="0">
                <a:solidFill>
                  <a:srgbClr val="000000"/>
                </a:solidFill>
                <a:latin typeface="Arial"/>
              </a:rPr>
              <a:t>15%→31% and 26%→50% of healthy. And no drug raises BubR1.</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Suijkerbuijk et al., Cancer Res 2010, PMID 20516114, Fig 1D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SCIENTIFIC RIGOR (35%) — Q3: ten arms, four themes, every one closed on a number</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Scientific rigor  </a:t>
            </a:r>
            <a:r>
              <a:rPr sz="1400" b="0">
                <a:solidFill>
                  <a:srgbClr val="5C5C5C"/>
                </a:solidFill>
                <a:latin typeface="Arial"/>
              </a:rPr>
              <a:t>35%</a:t>
            </a:r>
          </a:p>
        </p:txBody>
      </p:sp>
      <p:pic>
        <p:nvPicPr>
          <p:cNvPr id="4" name="Picture 3" descr="fig_themes.png"/>
          <p:cNvPicPr>
            <a:picLocks noChangeAspect="1"/>
          </p:cNvPicPr>
          <p:nvPr/>
        </p:nvPicPr>
        <p:blipFill>
          <a:blip r:embed="rId2"/>
          <a:stretch>
            <a:fillRect/>
          </a:stretch>
        </p:blipFill>
        <p:spPr>
          <a:xfrm>
            <a:off x="320040" y="1464037"/>
            <a:ext cx="5074920" cy="4131093"/>
          </a:xfrm>
          <a:prstGeom prst="rect">
            <a:avLst/>
          </a:prstGeom>
        </p:spPr>
      </p:pic>
      <p:pic>
        <p:nvPicPr>
          <p:cNvPr id="5" name="Picture 4" descr="fig_exposure.png"/>
          <p:cNvPicPr>
            <a:picLocks noChangeAspect="1"/>
          </p:cNvPicPr>
          <p:nvPr/>
        </p:nvPicPr>
        <p:blipFill>
          <a:blip r:embed="rId3"/>
          <a:stretch>
            <a:fillRect/>
          </a:stretch>
        </p:blipFill>
        <p:spPr>
          <a:xfrm>
            <a:off x="5623560" y="1822370"/>
            <a:ext cx="6263640" cy="2298859"/>
          </a:xfrm>
          <a:prstGeom prst="rect">
            <a:avLst/>
          </a:prstGeom>
        </p:spPr>
      </p:pic>
      <p:sp>
        <p:nvSpPr>
          <p:cNvPr id="6" name="TextBox 5"/>
          <p:cNvSpPr txBox="1"/>
          <p:nvPr/>
        </p:nvSpPr>
        <p:spPr>
          <a:xfrm>
            <a:off x="5623560" y="4526280"/>
            <a:ext cx="6263640" cy="1417320"/>
          </a:xfrm>
          <a:prstGeom prst="rect">
            <a:avLst/>
          </a:prstGeom>
          <a:noFill/>
        </p:spPr>
        <p:txBody>
          <a:bodyPr wrap="square">
            <a:spAutoFit/>
          </a:bodyPr>
          <a:lstStyle/>
          <a:p>
            <a:pPr algn="ctr">
              <a:spcAft>
                <a:spcPts val="600"/>
              </a:spcAft>
            </a:pPr>
            <a:r>
              <a:rPr sz="1700" b="0" i="0">
                <a:solidFill>
                  <a:srgbClr val="000000"/>
                </a:solidFill>
                <a:latin typeface="Arial"/>
              </a:rPr>
              <a:t>Two gates closed these arms. EXPOSURE: most needed more drug than a person can be given. SAFETY IN THIS CHILD: proteasome and HSP90 inhibitors are myelosuppressive and carcinogenic, disqualifying where tumour risk already comes from missegregation. Barasertib alone sits ABOVE what the effect needs, by 12x on the most conservative free-drug assumption.</a:t>
            </a:r>
          </a:p>
        </p:txBody>
      </p:sp>
      <p:sp>
        <p:nvSpPr>
          <p:cNvPr id="7" name="TextBox 6"/>
          <p:cNvSpPr txBox="1"/>
          <p:nvPr/>
        </p:nvSpPr>
        <p:spPr>
          <a:xfrm>
            <a:off x="411480" y="6355080"/>
            <a:ext cx="11384280" cy="457200"/>
          </a:xfrm>
          <a:prstGeom prst="rect">
            <a:avLst/>
          </a:prstGeom>
          <a:noFill/>
        </p:spPr>
        <p:txBody>
          <a:bodyPr wrap="square" anchor="ctr">
            <a:spAutoFit/>
          </a:bodyPr>
          <a:lstStyle/>
          <a:p>
            <a:pPr algn="ctr">
              <a:spcAft>
                <a:spcPts val="600"/>
              </a:spcAft>
            </a:pPr>
            <a:r>
              <a:rPr sz="2000" b="1" i="0">
                <a:solidFill>
                  <a:srgbClr val="F79646"/>
                </a:solidFill>
                <a:latin typeface="Arial"/>
              </a:rPr>
              <a:t>Three themes die upstream. One node survives.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INNOVATION (25%) — many engines generate, one human decides, nothing rests on one paper</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Innovation  </a:t>
            </a:r>
            <a:r>
              <a:rPr sz="1400" b="0">
                <a:solidFill>
                  <a:srgbClr val="5C5C5C"/>
                </a:solidFill>
                <a:latin typeface="Arial"/>
              </a:rPr>
              <a:t>25%</a:t>
            </a:r>
          </a:p>
        </p:txBody>
      </p:sp>
      <p:pic>
        <p:nvPicPr>
          <p:cNvPr id="4" name="Picture 3" descr="fig_funnel.png"/>
          <p:cNvPicPr>
            <a:picLocks noChangeAspect="1"/>
          </p:cNvPicPr>
          <p:nvPr/>
        </p:nvPicPr>
        <p:blipFill>
          <a:blip r:embed="rId2"/>
          <a:stretch>
            <a:fillRect/>
          </a:stretch>
        </p:blipFill>
        <p:spPr>
          <a:xfrm>
            <a:off x="1481317" y="1115568"/>
            <a:ext cx="9198885" cy="4041648"/>
          </a:xfrm>
          <a:prstGeom prst="rect">
            <a:avLst/>
          </a:prstGeom>
        </p:spPr>
      </p:pic>
      <p:pic>
        <p:nvPicPr>
          <p:cNvPr id="5" name="Picture 4" descr="fig_evidence.png"/>
          <p:cNvPicPr>
            <a:picLocks noChangeAspect="1"/>
          </p:cNvPicPr>
          <p:nvPr/>
        </p:nvPicPr>
        <p:blipFill>
          <a:blip r:embed="rId3"/>
          <a:stretch>
            <a:fillRect/>
          </a:stretch>
        </p:blipFill>
        <p:spPr>
          <a:xfrm>
            <a:off x="2389876" y="5285232"/>
            <a:ext cx="7409199" cy="111556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POTENTIAL IMPACT (25%) — Q4: lower the kinase, because the phosphatase cannot be raised</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Potential impact  </a:t>
            </a:r>
            <a:r>
              <a:rPr sz="1400" b="0">
                <a:solidFill>
                  <a:srgbClr val="5C5C5C"/>
                </a:solidFill>
                <a:latin typeface="Arial"/>
              </a:rPr>
              <a:t>25%</a:t>
            </a:r>
          </a:p>
        </p:txBody>
      </p:sp>
      <p:pic>
        <p:nvPicPr>
          <p:cNvPr id="4" name="Picture 3" descr="barasertib_hqpa.png"/>
          <p:cNvPicPr>
            <a:picLocks noChangeAspect="1"/>
          </p:cNvPicPr>
          <p:nvPr/>
        </p:nvPicPr>
        <p:blipFill>
          <a:blip r:embed="rId2"/>
          <a:stretch>
            <a:fillRect/>
          </a:stretch>
        </p:blipFill>
        <p:spPr>
          <a:xfrm>
            <a:off x="411480" y="1778891"/>
            <a:ext cx="3566160" cy="2020057"/>
          </a:xfrm>
          <a:prstGeom prst="rect">
            <a:avLst/>
          </a:prstGeom>
        </p:spPr>
      </p:pic>
      <p:sp>
        <p:nvSpPr>
          <p:cNvPr id="5" name="TextBox 4"/>
          <p:cNvSpPr txBox="1"/>
          <p:nvPr/>
        </p:nvSpPr>
        <p:spPr>
          <a:xfrm>
            <a:off x="411480" y="4069080"/>
            <a:ext cx="3566160" cy="411480"/>
          </a:xfrm>
          <a:prstGeom prst="rect">
            <a:avLst/>
          </a:prstGeom>
          <a:noFill/>
        </p:spPr>
        <p:txBody>
          <a:bodyPr wrap="square">
            <a:spAutoFit/>
          </a:bodyPr>
          <a:lstStyle/>
          <a:p>
            <a:pPr algn="ctr">
              <a:spcAft>
                <a:spcPts val="600"/>
              </a:spcAft>
            </a:pPr>
            <a:r>
              <a:rPr sz="1700" b="0" i="0">
                <a:solidFill>
                  <a:srgbClr val="5C5C5C"/>
                </a:solidFill>
                <a:latin typeface="Arial"/>
              </a:rPr>
              <a:t>barasertib-hQPA</a:t>
            </a:r>
          </a:p>
        </p:txBody>
      </p:sp>
      <p:pic>
        <p:nvPicPr>
          <p:cNvPr id="6" name="Picture 5" descr="pap_kard_surface.png"/>
          <p:cNvPicPr>
            <a:picLocks noChangeAspect="1"/>
          </p:cNvPicPr>
          <p:nvPr/>
        </p:nvPicPr>
        <p:blipFill>
          <a:blip r:embed="rId3"/>
          <a:stretch>
            <a:fillRect/>
          </a:stretch>
        </p:blipFill>
        <p:spPr>
          <a:xfrm>
            <a:off x="808781" y="4526280"/>
            <a:ext cx="2771556" cy="1600200"/>
          </a:xfrm>
          <a:prstGeom prst="rect">
            <a:avLst/>
          </a:prstGeom>
        </p:spPr>
      </p:pic>
      <p:sp>
        <p:nvSpPr>
          <p:cNvPr id="7" name="TextBox 6"/>
          <p:cNvSpPr txBox="1"/>
          <p:nvPr/>
        </p:nvSpPr>
        <p:spPr>
          <a:xfrm>
            <a:off x="411480" y="6144768"/>
            <a:ext cx="3566160" cy="365760"/>
          </a:xfrm>
          <a:prstGeom prst="rect">
            <a:avLst/>
          </a:prstGeom>
          <a:noFill/>
        </p:spPr>
        <p:txBody>
          <a:bodyPr wrap="square">
            <a:spAutoFit/>
          </a:bodyPr>
          <a:lstStyle/>
          <a:p>
            <a:pPr algn="ctr">
              <a:spcAft>
                <a:spcPts val="600"/>
              </a:spcAft>
            </a:pPr>
            <a:r>
              <a:rPr sz="1300" b="0" i="0">
                <a:solidFill>
                  <a:srgbClr val="5C5C5C"/>
                </a:solidFill>
                <a:latin typeface="Arial"/>
              </a:rPr>
              <a:t>the groove neither allele reaches</a:t>
            </a:r>
          </a:p>
        </p:txBody>
      </p:sp>
      <p:sp>
        <p:nvSpPr>
          <p:cNvPr id="8" name="Rounded Rectangle 7"/>
          <p:cNvSpPr/>
          <p:nvPr/>
        </p:nvSpPr>
        <p:spPr>
          <a:xfrm>
            <a:off x="4251960" y="1371600"/>
            <a:ext cx="7543800" cy="1042415"/>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800" b="1">
                <a:solidFill>
                  <a:srgbClr val="4F81BD"/>
                </a:solidFill>
                <a:latin typeface="Arial"/>
              </a:rPr>
              <a:t>0.37 nM   </a:t>
            </a:r>
            <a:r>
              <a:rPr sz="2000" b="0">
                <a:solidFill>
                  <a:srgbClr val="000000"/>
                </a:solidFill>
                <a:latin typeface="Arial"/>
              </a:rPr>
              <a:t>BIOCHEMICAL Aurora B IC50, not the cellular rescue concentration</a:t>
            </a:r>
          </a:p>
        </p:txBody>
      </p:sp>
      <p:sp>
        <p:nvSpPr>
          <p:cNvPr id="9" name="Rounded Rectangle 8"/>
          <p:cNvSpPr/>
          <p:nvPr/>
        </p:nvSpPr>
        <p:spPr>
          <a:xfrm>
            <a:off x="4251960" y="2523744"/>
            <a:ext cx="7543800" cy="1042415"/>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800" b="1">
                <a:solidFill>
                  <a:srgbClr val="4F81BD"/>
                </a:solidFill>
                <a:latin typeface="Arial"/>
              </a:rPr>
              <a:t>~3,700x   </a:t>
            </a:r>
            <a:r>
              <a:rPr sz="2000" b="0">
                <a:solidFill>
                  <a:srgbClr val="000000"/>
                </a:solidFill>
                <a:latin typeface="Arial"/>
              </a:rPr>
              <a:t>selective over Aurora A</a:t>
            </a:r>
          </a:p>
        </p:txBody>
      </p:sp>
      <p:sp>
        <p:nvSpPr>
          <p:cNvPr id="10" name="Rounded Rectangle 9"/>
          <p:cNvSpPr/>
          <p:nvPr/>
        </p:nvSpPr>
        <p:spPr>
          <a:xfrm>
            <a:off x="4251960" y="3675887"/>
            <a:ext cx="7543800" cy="1042415"/>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800" b="1">
                <a:solidFill>
                  <a:srgbClr val="4F81BD"/>
                </a:solidFill>
                <a:latin typeface="Arial"/>
              </a:rPr>
              <a:t>447 nM   </a:t>
            </a:r>
            <a:r>
              <a:rPr sz="2000" b="0">
                <a:solidFill>
                  <a:srgbClr val="000000"/>
                </a:solidFill>
                <a:latin typeface="Arial"/>
              </a:rPr>
              <a:t>adult steady-state Css, TOTAL drug (Dennis 2012)</a:t>
            </a:r>
          </a:p>
        </p:txBody>
      </p:sp>
      <p:sp>
        <p:nvSpPr>
          <p:cNvPr id="11" name="Rounded Rectangle 10"/>
          <p:cNvSpPr/>
          <p:nvPr/>
        </p:nvSpPr>
        <p:spPr>
          <a:xfrm>
            <a:off x="4251960" y="4828031"/>
            <a:ext cx="7543800" cy="1042415"/>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800" b="1">
                <a:solidFill>
                  <a:srgbClr val="00B050"/>
                </a:solidFill>
                <a:latin typeface="Arial"/>
              </a:rPr>
              <a:t>12-1,208x   </a:t>
            </a:r>
            <a:r>
              <a:rPr sz="2000" b="0">
                <a:solidFill>
                  <a:srgbClr val="000000"/>
                </a:solidFill>
                <a:latin typeface="Arial"/>
              </a:rPr>
              <a:t>over IC50: free at 99% bound, up to total. Free fraction unpublished.</a:t>
            </a:r>
          </a:p>
        </p:txBody>
      </p:sp>
      <p:sp>
        <p:nvSpPr>
          <p:cNvPr id="12" name="TextBox 11"/>
          <p:cNvSpPr txBox="1"/>
          <p:nvPr/>
        </p:nvSpPr>
        <p:spPr>
          <a:xfrm>
            <a:off x="4251960" y="6035040"/>
            <a:ext cx="7543800" cy="502920"/>
          </a:xfrm>
          <a:prstGeom prst="rect">
            <a:avLst/>
          </a:prstGeom>
          <a:noFill/>
        </p:spPr>
        <p:txBody>
          <a:bodyPr wrap="square">
            <a:spAutoFit/>
          </a:bodyPr>
          <a:lstStyle/>
          <a:p>
            <a:pPr algn="l">
              <a:spcAft>
                <a:spcPts val="600"/>
              </a:spcAft>
            </a:pPr>
            <a:r>
              <a:rPr sz="1300" b="0" i="0">
                <a:solidFill>
                  <a:srgbClr val="5C5C5C"/>
                </a:solidFill>
                <a:latin typeface="Arial"/>
              </a:rPr>
              <a:t>A RANGE, not a therapeutic index and not a safety margin: it shows substantial exposure is reachable, not that a safe paediatric window exists. Structure: PP2A-B56 with the BubR1 KARD bound (Bloom &amp; North 2021).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The window is narrow, we name it ourselves, and it is the experiment we propose</a:t>
            </a:r>
          </a:p>
        </p:txBody>
      </p:sp>
      <p:pic>
        <p:nvPicPr>
          <p:cNvPr id="3" name="Picture 2" descr="fig_window.png"/>
          <p:cNvPicPr>
            <a:picLocks noChangeAspect="1"/>
          </p:cNvPicPr>
          <p:nvPr/>
        </p:nvPicPr>
        <p:blipFill>
          <a:blip r:embed="rId2"/>
          <a:stretch>
            <a:fillRect/>
          </a:stretch>
        </p:blipFill>
        <p:spPr>
          <a:xfrm>
            <a:off x="531481" y="1143000"/>
            <a:ext cx="6663716" cy="4069080"/>
          </a:xfrm>
          <a:prstGeom prst="rect">
            <a:avLst/>
          </a:prstGeom>
        </p:spPr>
      </p:pic>
      <p:sp>
        <p:nvSpPr>
          <p:cNvPr id="4" name="Rounded Rectangle 3"/>
          <p:cNvSpPr/>
          <p:nvPr/>
        </p:nvSpPr>
        <p:spPr>
          <a:xfrm>
            <a:off x="7543800" y="1417320"/>
            <a:ext cx="4233672" cy="1444752"/>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200" b="1" i="0">
                <a:solidFill>
                  <a:srgbClr val="00B050"/>
                </a:solidFill>
                <a:latin typeface="Arial"/>
              </a:rPr>
              <a:t>Calibrate on PD, not dose</a:t>
            </a:r>
          </a:p>
          <a:p>
            <a:pPr algn="l">
              <a:spcAft>
                <a:spcPts val="600"/>
              </a:spcAft>
            </a:pPr>
            <a:r>
              <a:rPr sz="2000" b="0" i="0">
                <a:solidFill>
                  <a:srgbClr val="000000"/>
                </a:solidFill>
                <a:latin typeface="Arial"/>
              </a:rPr>
              <a:t>1-10x IC50 free. Titrate phospho-Hec1, never to ablation.</a:t>
            </a:r>
          </a:p>
        </p:txBody>
      </p:sp>
      <p:sp>
        <p:nvSpPr>
          <p:cNvPr id="5" name="Rounded Rectangle 4"/>
          <p:cNvSpPr/>
          <p:nvPr/>
        </p:nvSpPr>
        <p:spPr>
          <a:xfrm>
            <a:off x="7543800" y="3044952"/>
            <a:ext cx="4233672" cy="1444752"/>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200" b="1" i="0">
                <a:solidFill>
                  <a:srgbClr val="F79646"/>
                </a:solidFill>
                <a:latin typeface="Arial"/>
              </a:rPr>
              <a:t>Measure both curves</a:t>
            </a:r>
          </a:p>
          <a:p>
            <a:pPr algn="l">
              <a:spcAft>
                <a:spcPts val="600"/>
              </a:spcAft>
            </a:pPr>
            <a:r>
              <a:rPr sz="2000" b="0" i="0">
                <a:solidFill>
                  <a:srgbClr val="000000"/>
                </a:solidFill>
                <a:latin typeface="Arial"/>
              </a:rPr>
              <a:t>Congression rescue and checkpoint competence, same cells.</a:t>
            </a:r>
          </a:p>
        </p:txBody>
      </p:sp>
      <p:sp>
        <p:nvSpPr>
          <p:cNvPr id="6" name="Rounded Rectangle 5"/>
          <p:cNvSpPr/>
          <p:nvPr/>
        </p:nvSpPr>
        <p:spPr>
          <a:xfrm>
            <a:off x="7543800" y="4672584"/>
            <a:ext cx="4233672" cy="1444752"/>
          </a:xfrm>
          <a:prstGeom prst="roundRect">
            <a:avLst>
              <a:gd name="adj" fmla="val 7000"/>
            </a:avLst>
          </a:prstGeom>
          <a:solidFill>
            <a:srgbClr val="F2F6FB"/>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200" b="1" i="0">
                <a:solidFill>
                  <a:srgbClr val="C0392B"/>
                </a:solidFill>
                <a:latin typeface="Arial"/>
              </a:rPr>
              <a:t>The risk we are not hiding</a:t>
            </a:r>
          </a:p>
          <a:p>
            <a:pPr algn="l">
              <a:spcAft>
                <a:spcPts val="600"/>
              </a:spcAft>
            </a:pPr>
            <a:r>
              <a:rPr sz="2000" b="0" i="0">
                <a:solidFill>
                  <a:srgbClr val="000000"/>
                </a:solidFill>
                <a:latin typeface="Arial"/>
              </a:rPr>
              <a:t>Slide 7 showed this checkpoint at 15-26% of normal. Our drug must not cost it.</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Santaguida 2011, PMID 21399614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The moonshot: programmable translation, on the message the patient already has</a:t>
            </a:r>
          </a:p>
        </p:txBody>
      </p:sp>
      <p:pic>
        <p:nvPicPr>
          <p:cNvPr id="3" name="Picture 2" descr="pap_trna.png"/>
          <p:cNvPicPr>
            <a:picLocks noChangeAspect="1"/>
          </p:cNvPicPr>
          <p:nvPr/>
        </p:nvPicPr>
        <p:blipFill>
          <a:blip r:embed="rId2"/>
          <a:stretch>
            <a:fillRect/>
          </a:stretch>
        </p:blipFill>
        <p:spPr>
          <a:xfrm>
            <a:off x="2193888" y="1051560"/>
            <a:ext cx="7801174" cy="2788920"/>
          </a:xfrm>
          <a:prstGeom prst="rect">
            <a:avLst/>
          </a:prstGeom>
        </p:spPr>
      </p:pic>
      <p:sp>
        <p:nvSpPr>
          <p:cNvPr id="4" name="Rounded Rectangle 3"/>
          <p:cNvSpPr/>
          <p:nvPr/>
        </p:nvSpPr>
        <p:spPr>
          <a:xfrm>
            <a:off x="411480" y="4023360"/>
            <a:ext cx="3703320" cy="210312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4F81BD"/>
                </a:solidFill>
                <a:latin typeface="Arial"/>
              </a:rPr>
              <a:t>What it does</a:t>
            </a:r>
          </a:p>
          <a:p>
            <a:pPr algn="l">
              <a:spcAft>
                <a:spcPts val="600"/>
              </a:spcAft>
            </a:pPr>
            <a:r>
              <a:rPr sz="1800" b="0" i="0">
                <a:solidFill>
                  <a:srgbClr val="000000"/>
                </a:solidFill>
                <a:latin typeface="Arial"/>
              </a:rPr>
              <a:t>A separate capped RNA (orange) base-pairs with the target mRNA (blue). The ribosome loads from the trans-cap and is handed to a start codon of our choosing.</a:t>
            </a:r>
          </a:p>
        </p:txBody>
      </p:sp>
      <p:sp>
        <p:nvSpPr>
          <p:cNvPr id="5" name="Rounded Rectangle 4"/>
          <p:cNvSpPr/>
          <p:nvPr/>
        </p:nvSpPr>
        <p:spPr>
          <a:xfrm>
            <a:off x="4334256" y="4023360"/>
            <a:ext cx="3703320" cy="2103120"/>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00B050"/>
                </a:solidFill>
                <a:latin typeface="Arial"/>
              </a:rPr>
              <a:t>Why it reaches this child</a:t>
            </a:r>
          </a:p>
          <a:p>
            <a:pPr algn="l">
              <a:spcAft>
                <a:spcPts val="600"/>
              </a:spcAft>
            </a:pPr>
            <a:r>
              <a:rPr sz="1800" b="0" i="0">
                <a:solidFill>
                  <a:srgbClr val="000000"/>
                </a:solidFill>
                <a:latin typeface="Arial"/>
              </a:rPr>
              <a:t>Allele 1's transcript is gone, so nothing can rescue it. But allele 2's message IS present — raising its output is a genome-free way to restore the dose.</a:t>
            </a:r>
          </a:p>
        </p:txBody>
      </p:sp>
      <p:sp>
        <p:nvSpPr>
          <p:cNvPr id="6" name="Rounded Rectangle 5"/>
          <p:cNvSpPr/>
          <p:nvPr/>
        </p:nvSpPr>
        <p:spPr>
          <a:xfrm>
            <a:off x="8257031" y="4023360"/>
            <a:ext cx="3520440" cy="2103120"/>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F79646"/>
                </a:solidFill>
                <a:latin typeface="Arial"/>
              </a:rPr>
              <a:t>Why it deserves funding</a:t>
            </a:r>
          </a:p>
          <a:p>
            <a:pPr algn="l">
              <a:spcAft>
                <a:spcPts val="600"/>
              </a:spcAft>
            </a:pPr>
            <a:r>
              <a:rPr sz="1800" b="0" i="0">
                <a:solidFill>
                  <a:srgbClr val="000000"/>
                </a:solidFill>
                <a:latin typeface="Arial"/>
              </a:rPr>
              <a:t>One mechanism, no edit, and dosage disease is a whole class. Delivery is the unsolved half: liver and muscle today, brain and marrow not yet.</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Jia et al., Nat Biotechnol 2025, Fig 1a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What we answered, and the one prediction we commit to</a:t>
            </a:r>
          </a:p>
        </p:txBody>
      </p:sp>
      <p:sp>
        <p:nvSpPr>
          <p:cNvPr id="3" name="Rounded Rectangle 2"/>
          <p:cNvSpPr/>
          <p:nvPr/>
        </p:nvSpPr>
        <p:spPr>
          <a:xfrm>
            <a:off x="411480" y="1188720"/>
            <a:ext cx="11384280" cy="9692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4F81BD"/>
                </a:solidFill>
                <a:latin typeface="Arial"/>
              </a:rPr>
              <a:t>Q1  What do the alleles leave?    </a:t>
            </a:r>
            <a:r>
              <a:rPr sz="2000" b="0">
                <a:solidFill>
                  <a:srgbClr val="000000"/>
                </a:solidFill>
                <a:latin typeface="Arial"/>
              </a:rPr>
              <a:t>No transcript, and an unstable protein. Both lose the KARD's function.</a:t>
            </a:r>
          </a:p>
        </p:txBody>
      </p:sp>
      <p:sp>
        <p:nvSpPr>
          <p:cNvPr id="4" name="Rounded Rectangle 3"/>
          <p:cNvSpPr/>
          <p:nvPr/>
        </p:nvSpPr>
        <p:spPr>
          <a:xfrm>
            <a:off x="411480" y="2258568"/>
            <a:ext cx="11384280" cy="9692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4F81BD"/>
                </a:solidFill>
                <a:latin typeface="Arial"/>
              </a:rPr>
              <a:t>Q2  Is it reversible?    </a:t>
            </a:r>
            <a:r>
              <a:rPr sz="2000" b="0">
                <a:solidFill>
                  <a:srgbClr val="000000"/>
                </a:solidFill>
                <a:latin typeface="Arial"/>
              </a:rPr>
              <a:t>Yes — restoring BubR1 doubles checkpoint arrest in patient cells.</a:t>
            </a:r>
          </a:p>
        </p:txBody>
      </p:sp>
      <p:sp>
        <p:nvSpPr>
          <p:cNvPr id="5" name="Rounded Rectangle 4"/>
          <p:cNvSpPr/>
          <p:nvPr/>
        </p:nvSpPr>
        <p:spPr>
          <a:xfrm>
            <a:off x="411480" y="3328415"/>
            <a:ext cx="11384280" cy="96926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F79646"/>
                </a:solidFill>
                <a:latin typeface="Arial"/>
              </a:rPr>
              <a:t>Q3  Can a drug raise BubR1?    </a:t>
            </a:r>
            <a:r>
              <a:rPr sz="2000" b="0">
                <a:solidFill>
                  <a:srgbClr val="000000"/>
                </a:solidFill>
                <a:latin typeface="Arial"/>
              </a:rPr>
              <a:t>No. Zero compounds across 107,407 curated pairs, and no PP2A activator.</a:t>
            </a:r>
          </a:p>
        </p:txBody>
      </p:sp>
      <p:sp>
        <p:nvSpPr>
          <p:cNvPr id="6" name="Rounded Rectangle 5"/>
          <p:cNvSpPr/>
          <p:nvPr/>
        </p:nvSpPr>
        <p:spPr>
          <a:xfrm>
            <a:off x="411480" y="4398264"/>
            <a:ext cx="11384280" cy="96926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00B050"/>
                </a:solidFill>
                <a:latin typeface="Arial"/>
              </a:rPr>
              <a:t>Q4  What else sits on the node?    </a:t>
            </a:r>
            <a:r>
              <a:rPr sz="2000" b="0">
                <a:solidFill>
                  <a:srgbClr val="000000"/>
                </a:solidFill>
                <a:latin typeface="Arial"/>
              </a:rPr>
              <a:t>Aurora B — the one target where human exposure runs in our favour.</a:t>
            </a:r>
          </a:p>
        </p:txBody>
      </p:sp>
      <p:sp>
        <p:nvSpPr>
          <p:cNvPr id="7" name="Rounded Rectangle 6"/>
          <p:cNvSpPr/>
          <p:nvPr/>
        </p:nvSpPr>
        <p:spPr>
          <a:xfrm>
            <a:off x="411480" y="5504688"/>
            <a:ext cx="11384280" cy="1042415"/>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2100" b="1" i="0">
                <a:solidFill>
                  <a:srgbClr val="00B050"/>
                </a:solidFill>
                <a:latin typeface="Arial"/>
              </a:rPr>
              <a:t>The prediction: partial Aurora B inhibition rescues congression in this child's cells BEFORE it costs checkpoint competence. If it does not, we are wrong.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