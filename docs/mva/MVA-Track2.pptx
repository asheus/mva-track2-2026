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 i="0">
                <a:solidFill>
                  <a:srgbClr val="FFFFFF"/>
                </a:solidFill>
                <a:latin typeface="Arial"/>
              </a:rPr>
              <a:t>Rebalancing the kinetochore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748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0" i="0">
                <a:solidFill>
                  <a:srgbClr val="C9D6E6"/>
                </a:solidFill>
                <a:latin typeface="Arial"/>
              </a:rPr>
              <a:t>A drug-repurposing case for one child with mosaic variegated aneuploidy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886200"/>
            <a:ext cx="105156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0" i="1">
                <a:solidFill>
                  <a:srgbClr val="F79646"/>
                </a:solidFill>
                <a:latin typeface="Arial"/>
              </a:rPr>
              <a:t>“Every cell-cycle drug in clinical use was built to break the cell cycle.</a:t>
            </a:r>
          </a:p>
          <a:p>
            <a:pPr algn="l">
              <a:spcAft>
                <a:spcPts val="600"/>
              </a:spcAft>
            </a:pPr>
            <a:r>
              <a:rPr sz="2600" b="0" i="1">
                <a:solidFill>
                  <a:srgbClr val="F79646"/>
                </a:solidFill>
                <a:latin typeface="Arial"/>
              </a:rPr>
              <a:t>Not one was built to make it work better.”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8064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9FB6CE"/>
                </a:solidFill>
                <a:latin typeface="Arial"/>
              </a:rPr>
              <a:t>MVA Hackathon 2026  ·  Track 2  ·  proband WGS_EX2312012  ·  BUB1B p.Leu737Ter / p.Asn1002Lys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7532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200" b="0" i="0">
                <a:solidFill>
                  <a:srgbClr val="FFFFFF"/>
                </a:solidFill>
                <a:latin typeface="Arial"/>
              </a:rPr>
              <a:t>THE PROBLEM: every cell division is a chance to get the chromosome count wrong</a:t>
            </a:r>
          </a:p>
        </p:txBody>
      </p:sp>
      <p:pic>
        <p:nvPicPr>
          <p:cNvPr id="3" name="Picture 2" descr="pap_cy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4616" y="987552"/>
            <a:ext cx="9019718" cy="1920240"/>
          </a:xfrm>
          <a:prstGeom prst="rect">
            <a:avLst/>
          </a:prstGeom>
        </p:spPr>
      </p:pic>
      <p:pic>
        <p:nvPicPr>
          <p:cNvPr id="4" name="Picture 3" descr="pap_atta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8693" y="3063240"/>
            <a:ext cx="3240452" cy="30632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577840" y="3063240"/>
            <a:ext cx="6217920" cy="1426464"/>
          </a:xfrm>
          <a:prstGeom prst="roundRect">
            <a:avLst>
              <a:gd name="adj" fmla="val 7000"/>
            </a:avLst>
          </a:prstGeom>
          <a:solidFill>
            <a:srgbClr val="F2F6FB"/>
          </a:solidFill>
          <a:ln w="19050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4F81BD"/>
                </a:solidFill>
                <a:latin typeface="Arial"/>
              </a:rPr>
              <a:t>A checkpoint guards the hand-off</a:t>
            </a:r>
          </a:p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000000"/>
                </a:solidFill>
                <a:latin typeface="Arial"/>
              </a:rPr>
              <a:t>Each chromosome must grip both poles. Three of the four ways it can attach are wrong, so the cell holds mitosis until every one is right.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577840" y="4700016"/>
            <a:ext cx="6217920" cy="1426464"/>
          </a:xfrm>
          <a:prstGeom prst="roundRect">
            <a:avLst>
              <a:gd name="adj" fmla="val 7000"/>
            </a:avLst>
          </a:prstGeom>
          <a:solidFill>
            <a:srgbClr val="FDF3E9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C0392B"/>
                </a:solidFill>
                <a:latin typeface="Arial"/>
              </a:rPr>
              <a:t>In this child the guard is weak</a:t>
            </a:r>
          </a:p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000000"/>
                </a:solidFill>
                <a:latin typeface="Arial"/>
              </a:rPr>
              <a:t>MVA: cells are born with the wrong chromosome count, giving growth failure, microcephaly and childhood cancer risk.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6446520"/>
            <a:ext cx="42062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5C5C5C"/>
                </a:solidFill>
                <a:latin typeface="Arial"/>
              </a:rPr>
              <a:t>Bloom &amp; North 2021 PMID 33892776 · McVey 2021 PMID 34445523, CC BY 4.0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7532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200" b="0" i="0">
                <a:solidFill>
                  <a:srgbClr val="FFFFFF"/>
                </a:solidFill>
                <a:latin typeface="Arial"/>
              </a:rPr>
              <a:t>THE QUESTIONS we made this work answer, before we let ourselves pick anything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207008"/>
            <a:ext cx="11384280" cy="1152144"/>
          </a:xfrm>
          <a:prstGeom prst="roundRect">
            <a:avLst>
              <a:gd name="adj" fmla="val 7000"/>
            </a:avLst>
          </a:prstGeom>
          <a:solidFill>
            <a:srgbClr val="F2F6FB"/>
          </a:solidFill>
          <a:ln w="19050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4F81BD"/>
                </a:solidFill>
                <a:latin typeface="Arial"/>
              </a:rPr>
              <a:t>1   </a:t>
            </a:r>
            <a:r>
              <a:rPr sz="2300" b="1">
                <a:solidFill>
                  <a:srgbClr val="000000"/>
                </a:solidFill>
                <a:latin typeface="Arial"/>
              </a:rPr>
              <a:t>What do these two alleles actually leave behind?</a:t>
            </a:r>
          </a:p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5C5C5C"/>
                </a:solidFill>
                <a:latin typeface="Arial"/>
              </a:rPr>
              <a:t>      Not “pathogenic”. How much protein, and with which domains.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2459736"/>
            <a:ext cx="11384280" cy="1152144"/>
          </a:xfrm>
          <a:prstGeom prst="roundRect">
            <a:avLst>
              <a:gd name="adj" fmla="val 7000"/>
            </a:avLst>
          </a:prstGeom>
          <a:solidFill>
            <a:srgbClr val="F2F6FB"/>
          </a:solidFill>
          <a:ln w="19050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4F81BD"/>
                </a:solidFill>
                <a:latin typeface="Arial"/>
              </a:rPr>
              <a:t>2   </a:t>
            </a:r>
            <a:r>
              <a:rPr sz="2300" b="1">
                <a:solidFill>
                  <a:srgbClr val="000000"/>
                </a:solidFill>
                <a:latin typeface="Arial"/>
              </a:rPr>
              <a:t>Is the deficit reversible at all?</a:t>
            </a:r>
          </a:p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5C5C5C"/>
                </a:solidFill>
                <a:latin typeface="Arial"/>
              </a:rPr>
              <a:t>      If restoring BubR1 does nothing, no drug can work. Someone tested this.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3712464"/>
            <a:ext cx="11384280" cy="1152144"/>
          </a:xfrm>
          <a:prstGeom prst="roundRect">
            <a:avLst>
              <a:gd name="adj" fmla="val 7000"/>
            </a:avLst>
          </a:prstGeom>
          <a:solidFill>
            <a:srgbClr val="FDF3E9"/>
          </a:solidFill>
          <a:ln w="19050">
            <a:solidFill>
              <a:srgbClr val="F796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79646"/>
                </a:solidFill>
                <a:latin typeface="Arial"/>
              </a:rPr>
              <a:t>3   </a:t>
            </a:r>
            <a:r>
              <a:rPr sz="2300" b="1">
                <a:solidFill>
                  <a:srgbClr val="000000"/>
                </a:solidFill>
                <a:latin typeface="Arial"/>
              </a:rPr>
              <a:t>Is there any drug that raises BubR1, or its phosphatase?</a:t>
            </a:r>
          </a:p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5C5C5C"/>
                </a:solidFill>
                <a:latin typeface="Arial"/>
              </a:rPr>
              <a:t>      Asked across the whole druggable universe, not a shortlist.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4965192"/>
            <a:ext cx="11384280" cy="1152144"/>
          </a:xfrm>
          <a:prstGeom prst="roundRect">
            <a:avLst>
              <a:gd name="adj" fmla="val 7000"/>
            </a:avLst>
          </a:prstGeom>
          <a:solidFill>
            <a:srgbClr val="ECF7EE"/>
          </a:solidFill>
          <a:ln w="19050">
            <a:solidFill>
              <a:srgbClr val="00B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00B050"/>
                </a:solidFill>
                <a:latin typeface="Arial"/>
              </a:rPr>
              <a:t>4   </a:t>
            </a:r>
            <a:r>
              <a:rPr sz="2300" b="1">
                <a:solidFill>
                  <a:srgbClr val="000000"/>
                </a:solidFill>
                <a:latin typeface="Arial"/>
              </a:rPr>
              <a:t>If not, what else sits on the same node — and at what dose?</a:t>
            </a:r>
          </a:p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5C5C5C"/>
                </a:solidFill>
                <a:latin typeface="Arial"/>
              </a:rPr>
              <a:t>      Answered on measured human exposure, or not answered.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355080"/>
            <a:ext cx="113842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 i="0">
                <a:solidFill>
                  <a:srgbClr val="F79646"/>
                </a:solidFill>
                <a:latin typeface="Arial"/>
              </a:rPr>
              <a:t>Each question had to close before the next one opened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7532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500" b="0" i="0">
                <a:solidFill>
                  <a:srgbClr val="FFFFFF"/>
                </a:solidFill>
                <a:latin typeface="Arial"/>
              </a:rPr>
              <a:t>Q1 — Two alleles, and the domain that sits between them</a:t>
            </a:r>
          </a:p>
        </p:txBody>
      </p:sp>
      <p:pic>
        <p:nvPicPr>
          <p:cNvPr id="3" name="Picture 2" descr="fig_domains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649" y="1024128"/>
            <a:ext cx="11341652" cy="361188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411480" y="4773168"/>
            <a:ext cx="3611880" cy="1335024"/>
          </a:xfrm>
          <a:prstGeom prst="roundRect">
            <a:avLst>
              <a:gd name="adj" fmla="val 7000"/>
            </a:avLst>
          </a:prstGeom>
          <a:solidFill>
            <a:srgbClr val="F2F6FB"/>
          </a:solidFill>
          <a:ln w="19050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4F81BD"/>
                </a:solidFill>
                <a:latin typeface="Arial"/>
              </a:rPr>
              <a:t>Allele 1 truncates at 737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Arial"/>
              </a:rPr>
              <a:t>73 nt upstream of the last junction, so the transcript is destroyed.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88536" y="4773168"/>
            <a:ext cx="3611880" cy="1335024"/>
          </a:xfrm>
          <a:prstGeom prst="roundRect">
            <a:avLst>
              <a:gd name="adj" fmla="val 7000"/>
            </a:avLst>
          </a:prstGeom>
          <a:solidFill>
            <a:srgbClr val="F2F6FB"/>
          </a:solidFill>
          <a:ln w="19050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4F81BD"/>
                </a:solidFill>
                <a:latin typeface="Arial"/>
              </a:rPr>
              <a:t>Allele 2 is buried, not surface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Arial"/>
              </a:rPr>
              <a:t>87% buried. Made, then degraded: a dosage mutant, not an interface one.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65592" y="4773168"/>
            <a:ext cx="3611880" cy="1335024"/>
          </a:xfrm>
          <a:prstGeom prst="roundRect">
            <a:avLst>
              <a:gd name="adj" fmla="val 7000"/>
            </a:avLst>
          </a:prstGeom>
          <a:solidFill>
            <a:srgbClr val="FDF3E9"/>
          </a:solidFill>
          <a:ln w="19050">
            <a:solidFill>
              <a:srgbClr val="F796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F79646"/>
                </a:solidFill>
                <a:latin typeface="Arial"/>
              </a:rPr>
              <a:t>Both land on the KARD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Arial"/>
              </a:rPr>
              <a:t>667–681: the motif that recruits the phosphatase PP2A-B56.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6446520"/>
            <a:ext cx="42062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5C5C5C"/>
                </a:solidFill>
                <a:latin typeface="Arial"/>
              </a:rPr>
              <a:t>Domain layout adapted from Bloom &amp; North 2021, PMID 33892776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7532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500" b="0" i="0">
                <a:solidFill>
                  <a:srgbClr val="FFFFFF"/>
                </a:solidFill>
                <a:latin typeface="Arial"/>
              </a:rPr>
              <a:t>SCALABILITY (15%) — we scored every BUB1B allele, not this child's two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098280" y="877824"/>
            <a:ext cx="2697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400" b="1">
                <a:solidFill>
                  <a:srgbClr val="F79646"/>
                </a:solidFill>
                <a:latin typeface="Arial"/>
              </a:rPr>
              <a:t>Scalability  </a:t>
            </a:r>
            <a:r>
              <a:rPr sz="1400" b="0">
                <a:solidFill>
                  <a:srgbClr val="5C5C5C"/>
                </a:solidFill>
                <a:latin typeface="Arial"/>
              </a:rPr>
              <a:t>15%</a:t>
            </a:r>
          </a:p>
        </p:txBody>
      </p:sp>
      <p:pic>
        <p:nvPicPr>
          <p:cNvPr id="4" name="Picture 3" descr="fig_scor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4448" y="1280160"/>
            <a:ext cx="9740055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5376672"/>
            <a:ext cx="11384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Suijkerbuijk reached the same two classes experimentally: truncating alleles lose the transcript, missense alleles are made and turned over.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0" y="6446520"/>
            <a:ext cx="42062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5C5C5C"/>
                </a:solidFill>
                <a:latin typeface="Arial"/>
              </a:rPr>
              <a:t>Suijkerbuijk et al., Cancer Res 2010, PMID 20516114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7532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200" b="0" i="0">
                <a:solidFill>
                  <a:srgbClr val="FFFFFF"/>
                </a:solidFill>
                <a:latin typeface="Arial"/>
              </a:rPr>
              <a:t>Q1 — Aurora B LOOSENS grips on purpose. PP2A-B56 SETS them. This child cannot set.</a:t>
            </a:r>
          </a:p>
        </p:txBody>
      </p:sp>
      <p:pic>
        <p:nvPicPr>
          <p:cNvPr id="3" name="Picture 2" descr="pap_kcmt_ann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6222" y="1097280"/>
            <a:ext cx="3233915" cy="50292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74920" y="1152144"/>
            <a:ext cx="6720840" cy="1517904"/>
          </a:xfrm>
          <a:prstGeom prst="roundRect">
            <a:avLst>
              <a:gd name="adj" fmla="val 7000"/>
            </a:avLst>
          </a:prstGeom>
          <a:solidFill>
            <a:srgbClr val="FDF3E9"/>
          </a:solidFill>
          <a:ln w="19050">
            <a:solidFill>
              <a:srgbClr val="F796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F79646"/>
                </a:solidFill>
                <a:latin typeface="Arial"/>
              </a:rPr>
              <a:t>AURORA B — the loosener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Arial"/>
              </a:rPr>
              <a:t>It phosphorylates the GRIP (Hec1) holding a chromosome to a microtubule. A phosphorylated grip lets go. That is how wrong attachments get broken.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74920" y="2761488"/>
            <a:ext cx="6720840" cy="1517904"/>
          </a:xfrm>
          <a:prstGeom prst="roundRect">
            <a:avLst>
              <a:gd name="adj" fmla="val 7000"/>
            </a:avLst>
          </a:prstGeom>
          <a:solidFill>
            <a:srgbClr val="ECF7EE"/>
          </a:solidFill>
          <a:ln w="19050">
            <a:solidFill>
              <a:srgbClr val="00B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0B050"/>
                </a:solidFill>
                <a:latin typeface="Arial"/>
              </a:rPr>
              <a:t>PP2A-B56 — the setter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Arial"/>
              </a:rPr>
              <a:t>It removes those phosphates so a correct grip can set. Error correction is these two in a tug-of-war, and both are needed.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74920" y="4370832"/>
            <a:ext cx="6720840" cy="950976"/>
          </a:xfrm>
          <a:prstGeom prst="roundRect">
            <a:avLst>
              <a:gd name="adj" fmla="val 7000"/>
            </a:avLst>
          </a:prstGeom>
          <a:solidFill>
            <a:srgbClr val="F2F6FB"/>
          </a:solidFill>
          <a:ln w="19050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Arial"/>
              </a:rPr>
              <a:t>BubR1 is the TAXI, not an enzyme. Plk1 puts 3 phosphates in its KARD (shown left, on BubR1): that is the TICKET PP2A-B56 binds. Different phosphates, opposite job to Aurora B's.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74920" y="5413248"/>
            <a:ext cx="6720840" cy="713232"/>
          </a:xfrm>
          <a:prstGeom prst="roundRect">
            <a:avLst>
              <a:gd name="adj" fmla="val 7000"/>
            </a:avLst>
          </a:prstGeom>
          <a:solidFill>
            <a:srgbClr val="FDF3E9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C0392B"/>
                </a:solidFill>
                <a:latin typeface="Arial"/>
              </a:rPr>
              <a:t>No KARD delivered → no setter arrives → Aurora B is not stronger, it is UNOPPOSED. So we lower it to match.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6446520"/>
            <a:ext cx="42062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5C5C5C"/>
                </a:solidFill>
                <a:latin typeface="Arial"/>
              </a:rPr>
              <a:t>Bloom &amp; North 2021, Fig 2 detail; Aurora B added by us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7532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200" b="0" i="0">
                <a:solidFill>
                  <a:srgbClr val="FFFFFF"/>
                </a:solidFill>
                <a:latin typeface="Arial"/>
              </a:rPr>
              <a:t>Q2 — The deficit is reversible: put BubR1 back and the checkpoint recovers</a:t>
            </a:r>
          </a:p>
        </p:txBody>
      </p:sp>
      <p:pic>
        <p:nvPicPr>
          <p:cNvPr id="3" name="Picture 2" descr="pap_resc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740730"/>
            <a:ext cx="7269479" cy="369657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818120" y="1188720"/>
            <a:ext cx="3977639" cy="1572768"/>
          </a:xfrm>
          <a:prstGeom prst="roundRect">
            <a:avLst>
              <a:gd name="adj" fmla="val 7000"/>
            </a:avLst>
          </a:prstGeom>
          <a:solidFill>
            <a:srgbClr val="F2F6FB"/>
          </a:solidFill>
          <a:ln w="19050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4F81BD"/>
                </a:solidFill>
                <a:latin typeface="Arial"/>
              </a:rPr>
              <a:t>This child's genotype shape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Arial"/>
              </a:rPr>
              <a:t>753X/R814H and 731X/Y155C: one truncating allele, one missense — the MVA pattern.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818120" y="2907792"/>
            <a:ext cx="3977639" cy="1572768"/>
          </a:xfrm>
          <a:prstGeom prst="roundRect">
            <a:avLst>
              <a:gd name="adj" fmla="val 7000"/>
            </a:avLst>
          </a:prstGeom>
          <a:solidFill>
            <a:srgbClr val="ECF7EE"/>
          </a:solidFill>
          <a:ln w="19050">
            <a:solidFill>
              <a:srgbClr val="00B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00B050"/>
                </a:solidFill>
                <a:latin typeface="Arial"/>
              </a:rPr>
              <a:t>2.06x and 2.01x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Arial"/>
              </a:rPr>
              <a:t>Nocodazole arrest doubles when BubR1 is restored. Healthy controls and the carrier parent do not move.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18120" y="4626864"/>
            <a:ext cx="3977639" cy="1499616"/>
          </a:xfrm>
          <a:prstGeom prst="roundRect">
            <a:avLst>
              <a:gd name="adj" fmla="val 7000"/>
            </a:avLst>
          </a:prstGeom>
          <a:solidFill>
            <a:srgbClr val="FDF3E9"/>
          </a:solidFill>
          <a:ln w="19050">
            <a:solidFill>
              <a:srgbClr val="F796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F79646"/>
                </a:solidFill>
                <a:latin typeface="Arial"/>
              </a:rPr>
              <a:t>But it does not normalise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Arial"/>
              </a:rPr>
              <a:t>15%→31% and 26%→50% of healthy. And no drug raises BubR1.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6446520"/>
            <a:ext cx="42062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5C5C5C"/>
                </a:solidFill>
                <a:latin typeface="Arial"/>
              </a:rPr>
              <a:t>Suijkerbuijk et al., Cancer Res 2010, PMID 20516114, Fig 1D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7532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200" b="0" i="0">
                <a:solidFill>
                  <a:srgbClr val="FFFFFF"/>
                </a:solidFill>
                <a:latin typeface="Arial"/>
              </a:rPr>
              <a:t>SCIENTIFIC RIGOR (35%) — Q3: ten arms, four themes, every one closed on a number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098280" y="877824"/>
            <a:ext cx="2697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400" b="1">
                <a:solidFill>
                  <a:srgbClr val="F79646"/>
                </a:solidFill>
                <a:latin typeface="Arial"/>
              </a:rPr>
              <a:t>Scientific rigor  </a:t>
            </a:r>
            <a:r>
              <a:rPr sz="1400" b="0">
                <a:solidFill>
                  <a:srgbClr val="5C5C5C"/>
                </a:solidFill>
                <a:latin typeface="Arial"/>
              </a:rPr>
              <a:t>35%</a:t>
            </a:r>
          </a:p>
        </p:txBody>
      </p:sp>
      <p:pic>
        <p:nvPicPr>
          <p:cNvPr id="4" name="Picture 3" descr="fig_them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64037"/>
            <a:ext cx="5074920" cy="4131093"/>
          </a:xfrm>
          <a:prstGeom prst="rect">
            <a:avLst/>
          </a:prstGeom>
        </p:spPr>
      </p:pic>
      <p:pic>
        <p:nvPicPr>
          <p:cNvPr id="5" name="Picture 4" descr="fig_expos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3560" y="1864840"/>
            <a:ext cx="6263640" cy="2213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23560" y="4526280"/>
            <a:ext cx="62636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Arial"/>
              </a:rPr>
              <a:t>Two gates closed these arms. EXPOSURE: most needed more drug than a person can be given. SAFETY IN THIS CHILD: proteasome and HSP90 inhibitors are myelosuppressive and carcinogenic, disqualifying where tumour risk already comes from missegregation. Barasertib alone sits 1,200x ABOVE the effect.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355080"/>
            <a:ext cx="113842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 i="0">
                <a:solidFill>
                  <a:srgbClr val="F79646"/>
                </a:solidFill>
                <a:latin typeface="Arial"/>
              </a:rPr>
              <a:t>Three themes die upstream. One node survives.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7532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200" b="0" i="0">
                <a:solidFill>
                  <a:srgbClr val="FFFFFF"/>
                </a:solidFill>
                <a:latin typeface="Arial"/>
              </a:rPr>
              <a:t>INNOVATION (25%) — many engines generate, one human decides, nothing rests on one paper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098280" y="877824"/>
            <a:ext cx="2697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400" b="1">
                <a:solidFill>
                  <a:srgbClr val="F79646"/>
                </a:solidFill>
                <a:latin typeface="Arial"/>
              </a:rPr>
              <a:t>Innovation  </a:t>
            </a:r>
            <a:r>
              <a:rPr sz="1400" b="0">
                <a:solidFill>
                  <a:srgbClr val="5C5C5C"/>
                </a:solidFill>
                <a:latin typeface="Arial"/>
              </a:rPr>
              <a:t>25%</a:t>
            </a:r>
          </a:p>
        </p:txBody>
      </p:sp>
      <p:pic>
        <p:nvPicPr>
          <p:cNvPr id="4" name="Picture 3" descr="fig_fu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1317" y="1115568"/>
            <a:ext cx="9198885" cy="4041648"/>
          </a:xfrm>
          <a:prstGeom prst="rect">
            <a:avLst/>
          </a:prstGeom>
        </p:spPr>
      </p:pic>
      <p:pic>
        <p:nvPicPr>
          <p:cNvPr id="5" name="Picture 4" descr="fig_evi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89876" y="5285232"/>
            <a:ext cx="7409199" cy="111556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7532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200" b="0" i="0">
                <a:solidFill>
                  <a:srgbClr val="FFFFFF"/>
                </a:solidFill>
                <a:latin typeface="Arial"/>
              </a:rPr>
              <a:t>POTENTIAL IMPACT (25%) — Q4: lower the kinase, because the phosphatase cannot be raised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098280" y="877824"/>
            <a:ext cx="2697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400" b="1">
                <a:solidFill>
                  <a:srgbClr val="F79646"/>
                </a:solidFill>
                <a:latin typeface="Arial"/>
              </a:rPr>
              <a:t>Potential impact  </a:t>
            </a:r>
            <a:r>
              <a:rPr sz="1400" b="0">
                <a:solidFill>
                  <a:srgbClr val="5C5C5C"/>
                </a:solidFill>
                <a:latin typeface="Arial"/>
              </a:rPr>
              <a:t>25%</a:t>
            </a:r>
          </a:p>
        </p:txBody>
      </p:sp>
      <p:pic>
        <p:nvPicPr>
          <p:cNvPr id="4" name="Picture 3" descr="barasertib_hq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778891"/>
            <a:ext cx="3566160" cy="202005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069080"/>
            <a:ext cx="3566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0" i="0">
                <a:solidFill>
                  <a:srgbClr val="5C5C5C"/>
                </a:solidFill>
                <a:latin typeface="Arial"/>
              </a:rPr>
              <a:t>barasertib-hQPA</a:t>
            </a:r>
          </a:p>
        </p:txBody>
      </p:sp>
      <p:pic>
        <p:nvPicPr>
          <p:cNvPr id="6" name="Picture 5" descr="pap_kard_surfa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781" y="4526280"/>
            <a:ext cx="2771556" cy="1600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6144768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C5C5C"/>
                </a:solidFill>
                <a:latin typeface="Arial"/>
              </a:rPr>
              <a:t>the groove neither allele reaches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51960" y="1371600"/>
            <a:ext cx="7543800" cy="1042415"/>
          </a:xfrm>
          <a:prstGeom prst="roundRect">
            <a:avLst>
              <a:gd name="adj" fmla="val 7000"/>
            </a:avLst>
          </a:prstGeom>
          <a:solidFill>
            <a:srgbClr val="F2F6FB"/>
          </a:solidFill>
          <a:ln w="19050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ctr">
              <a:spcAft>
                <a:spcPts val="0"/>
              </a:spcAft>
            </a:pPr>
            <a:r>
              <a:rPr sz="2800" b="1">
                <a:solidFill>
                  <a:srgbClr val="4F81BD"/>
                </a:solidFill>
                <a:latin typeface="Arial"/>
              </a:rPr>
              <a:t>0.37 nM   </a:t>
            </a:r>
            <a:r>
              <a:rPr sz="2000" b="0">
                <a:solidFill>
                  <a:srgbClr val="000000"/>
                </a:solidFill>
                <a:latin typeface="Arial"/>
              </a:rPr>
              <a:t>Aurora B IC50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51960" y="2523744"/>
            <a:ext cx="7543800" cy="1042415"/>
          </a:xfrm>
          <a:prstGeom prst="roundRect">
            <a:avLst>
              <a:gd name="adj" fmla="val 7000"/>
            </a:avLst>
          </a:prstGeom>
          <a:solidFill>
            <a:srgbClr val="F2F6FB"/>
          </a:solidFill>
          <a:ln w="19050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ctr">
              <a:spcAft>
                <a:spcPts val="0"/>
              </a:spcAft>
            </a:pPr>
            <a:r>
              <a:rPr sz="2800" b="1">
                <a:solidFill>
                  <a:srgbClr val="4F81BD"/>
                </a:solidFill>
                <a:latin typeface="Arial"/>
              </a:rPr>
              <a:t>~3,700x   </a:t>
            </a:r>
            <a:r>
              <a:rPr sz="2000" b="0">
                <a:solidFill>
                  <a:srgbClr val="000000"/>
                </a:solidFill>
                <a:latin typeface="Arial"/>
              </a:rPr>
              <a:t>selective over Aurora 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1960" y="3675887"/>
            <a:ext cx="7543800" cy="1042415"/>
          </a:xfrm>
          <a:prstGeom prst="roundRect">
            <a:avLst>
              <a:gd name="adj" fmla="val 7000"/>
            </a:avLst>
          </a:prstGeom>
          <a:solidFill>
            <a:srgbClr val="F2F6FB"/>
          </a:solidFill>
          <a:ln w="19050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ctr">
              <a:spcAft>
                <a:spcPts val="0"/>
              </a:spcAft>
            </a:pPr>
            <a:r>
              <a:rPr sz="2800" b="1">
                <a:solidFill>
                  <a:srgbClr val="4F81BD"/>
                </a:solidFill>
                <a:latin typeface="Arial"/>
              </a:rPr>
              <a:t>447 nM   </a:t>
            </a:r>
            <a:r>
              <a:rPr sz="2000" b="0">
                <a:solidFill>
                  <a:srgbClr val="000000"/>
                </a:solidFill>
                <a:latin typeface="Arial"/>
              </a:rPr>
              <a:t>human steady-state Css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60" y="4828031"/>
            <a:ext cx="7543800" cy="1042415"/>
          </a:xfrm>
          <a:prstGeom prst="roundRect">
            <a:avLst>
              <a:gd name="adj" fmla="val 7000"/>
            </a:avLst>
          </a:prstGeom>
          <a:solidFill>
            <a:srgbClr val="ECF7EE"/>
          </a:solidFill>
          <a:ln w="19050">
            <a:solidFill>
              <a:srgbClr val="00B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ctr">
              <a:spcAft>
                <a:spcPts val="0"/>
              </a:spcAft>
            </a:pPr>
            <a:r>
              <a:rPr sz="2800" b="1">
                <a:solidFill>
                  <a:srgbClr val="00B050"/>
                </a:solidFill>
                <a:latin typeface="Arial"/>
              </a:rPr>
              <a:t>~1,200x   </a:t>
            </a:r>
            <a:r>
              <a:rPr sz="2000" b="0">
                <a:solidFill>
                  <a:srgbClr val="000000"/>
                </a:solidFill>
                <a:latin typeface="Arial"/>
              </a:rPr>
              <a:t>Css over IC50 — the only candidate that needs LESS drug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51960" y="6035040"/>
            <a:ext cx="7543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C5C5C"/>
                </a:solidFill>
                <a:latin typeface="Arial"/>
              </a:rPr>
              <a:t>Structure: PP2A-B56 surface with the BubR1 KARD peptide bound (Bloom &amp; North 2021, CC BY 4.0)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7532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200" b="0" i="0">
                <a:solidFill>
                  <a:srgbClr val="FFFFFF"/>
                </a:solidFill>
                <a:latin typeface="Arial"/>
              </a:rPr>
              <a:t>The window is narrow, we name it ourselves, and it is the experiment we propose</a:t>
            </a:r>
          </a:p>
        </p:txBody>
      </p:sp>
      <p:pic>
        <p:nvPicPr>
          <p:cNvPr id="3" name="Picture 2" descr="fig_wind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947" y="1143000"/>
            <a:ext cx="6414784" cy="406908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543800" y="1417320"/>
            <a:ext cx="4233672" cy="1444752"/>
          </a:xfrm>
          <a:prstGeom prst="roundRect">
            <a:avLst>
              <a:gd name="adj" fmla="val 7000"/>
            </a:avLst>
          </a:prstGeom>
          <a:solidFill>
            <a:srgbClr val="ECF7EE"/>
          </a:solidFill>
          <a:ln w="19050">
            <a:solidFill>
              <a:srgbClr val="00B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B050"/>
                </a:solidFill>
                <a:latin typeface="Arial"/>
              </a:rPr>
              <a:t>Calibrate on PD, not dose</a:t>
            </a:r>
          </a:p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1-10x IC50 free. Titrate phospho-Hec1, never to ablation.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43800" y="3044952"/>
            <a:ext cx="4233672" cy="1444752"/>
          </a:xfrm>
          <a:prstGeom prst="roundRect">
            <a:avLst>
              <a:gd name="adj" fmla="val 7000"/>
            </a:avLst>
          </a:prstGeom>
          <a:solidFill>
            <a:srgbClr val="FDF3E9"/>
          </a:solidFill>
          <a:ln w="19050">
            <a:solidFill>
              <a:srgbClr val="F796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F79646"/>
                </a:solidFill>
                <a:latin typeface="Arial"/>
              </a:rPr>
              <a:t>Measure both curves</a:t>
            </a:r>
          </a:p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Congression rescue and checkpoint competence, same cells.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543800" y="4672584"/>
            <a:ext cx="4233672" cy="1444752"/>
          </a:xfrm>
          <a:prstGeom prst="roundRect">
            <a:avLst>
              <a:gd name="adj" fmla="val 7000"/>
            </a:avLst>
          </a:prstGeom>
          <a:solidFill>
            <a:srgbClr val="F2F6FB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C0392B"/>
                </a:solidFill>
                <a:latin typeface="Arial"/>
              </a:rPr>
              <a:t>The risk we are not hiding</a:t>
            </a:r>
          </a:p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Slide 7 showed this checkpoint at 15-26% of normal. Our drug must not cost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6446520"/>
            <a:ext cx="42062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5C5C5C"/>
                </a:solidFill>
                <a:latin typeface="Arial"/>
              </a:rPr>
              <a:t>Santaguida 2011, PMID 21399614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7532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500" b="0" i="0">
                <a:solidFill>
                  <a:srgbClr val="FFFFFF"/>
                </a:solidFill>
                <a:latin typeface="Arial"/>
              </a:rPr>
              <a:t>The moonshot: programmable translation, on the message the patient already has</a:t>
            </a:r>
          </a:p>
        </p:txBody>
      </p:sp>
      <p:pic>
        <p:nvPicPr>
          <p:cNvPr id="3" name="Picture 2" descr="pap_tr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3888" y="1051560"/>
            <a:ext cx="7801174" cy="278892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411480" y="4023360"/>
            <a:ext cx="3703320" cy="2103120"/>
          </a:xfrm>
          <a:prstGeom prst="roundRect">
            <a:avLst>
              <a:gd name="adj" fmla="val 7000"/>
            </a:avLst>
          </a:prstGeom>
          <a:solidFill>
            <a:srgbClr val="F2F6FB"/>
          </a:solidFill>
          <a:ln w="19050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4F81BD"/>
                </a:solidFill>
                <a:latin typeface="Arial"/>
              </a:rPr>
              <a:t>What it does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Arial"/>
              </a:rPr>
              <a:t>A separate capped RNA (orange) base-pairs with the target mRNA (blue). The ribosome loads from the trans-cap and is handed to a start codon of our choosing.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34256" y="4023360"/>
            <a:ext cx="3703320" cy="2103120"/>
          </a:xfrm>
          <a:prstGeom prst="roundRect">
            <a:avLst>
              <a:gd name="adj" fmla="val 7000"/>
            </a:avLst>
          </a:prstGeom>
          <a:solidFill>
            <a:srgbClr val="ECF7EE"/>
          </a:solidFill>
          <a:ln w="19050">
            <a:solidFill>
              <a:srgbClr val="00B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0B050"/>
                </a:solidFill>
                <a:latin typeface="Arial"/>
              </a:rPr>
              <a:t>Why it reaches this child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Arial"/>
              </a:rPr>
              <a:t>Allele 1's transcript is gone, so nothing can rescue it. But allele 2's message IS present — raising its output is a genome-free way to restore the dose.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57031" y="4023360"/>
            <a:ext cx="3520440" cy="2103120"/>
          </a:xfrm>
          <a:prstGeom prst="roundRect">
            <a:avLst>
              <a:gd name="adj" fmla="val 7000"/>
            </a:avLst>
          </a:prstGeom>
          <a:solidFill>
            <a:srgbClr val="FDF3E9"/>
          </a:solidFill>
          <a:ln w="19050">
            <a:solidFill>
              <a:srgbClr val="F796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F79646"/>
                </a:solidFill>
                <a:latin typeface="Arial"/>
              </a:rPr>
              <a:t>Why it deserves funding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Arial"/>
              </a:rPr>
              <a:t>One mechanism, no edit, and dosage disease is a whole class. Delivery is the unsolved half: liver and muscle today, brain and marrow not yet.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6446520"/>
            <a:ext cx="42062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5C5C5C"/>
                </a:solidFill>
                <a:latin typeface="Arial"/>
              </a:rPr>
              <a:t>Jia et al., Nat Biotechnol 2025, Fig 1a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7532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500" b="0" i="0">
                <a:solidFill>
                  <a:srgbClr val="FFFFFF"/>
                </a:solidFill>
                <a:latin typeface="Arial"/>
              </a:rPr>
              <a:t>What we answered, and the one prediction we commit to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188720"/>
            <a:ext cx="11384280" cy="969264"/>
          </a:xfrm>
          <a:prstGeom prst="roundRect">
            <a:avLst>
              <a:gd name="adj" fmla="val 7000"/>
            </a:avLst>
          </a:prstGeom>
          <a:solidFill>
            <a:srgbClr val="F2F6FB"/>
          </a:solidFill>
          <a:ln w="19050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4F81BD"/>
                </a:solidFill>
                <a:latin typeface="Arial"/>
              </a:rPr>
              <a:t>Q1  What do the alleles leave?    </a:t>
            </a:r>
            <a:r>
              <a:rPr sz="2000" b="0">
                <a:solidFill>
                  <a:srgbClr val="000000"/>
                </a:solidFill>
                <a:latin typeface="Arial"/>
              </a:rPr>
              <a:t>No transcript, and an unstable protein. Both lose the KARD's function.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2258568"/>
            <a:ext cx="11384280" cy="969264"/>
          </a:xfrm>
          <a:prstGeom prst="roundRect">
            <a:avLst>
              <a:gd name="adj" fmla="val 7000"/>
            </a:avLst>
          </a:prstGeom>
          <a:solidFill>
            <a:srgbClr val="F2F6FB"/>
          </a:solidFill>
          <a:ln w="19050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4F81BD"/>
                </a:solidFill>
                <a:latin typeface="Arial"/>
              </a:rPr>
              <a:t>Q2  Is it reversible?    </a:t>
            </a:r>
            <a:r>
              <a:rPr sz="2000" b="0">
                <a:solidFill>
                  <a:srgbClr val="000000"/>
                </a:solidFill>
                <a:latin typeface="Arial"/>
              </a:rPr>
              <a:t>Yes — restoring BubR1 doubles checkpoint arrest in patient cells.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3328415"/>
            <a:ext cx="11384280" cy="969264"/>
          </a:xfrm>
          <a:prstGeom prst="roundRect">
            <a:avLst>
              <a:gd name="adj" fmla="val 7000"/>
            </a:avLst>
          </a:prstGeom>
          <a:solidFill>
            <a:srgbClr val="FDF3E9"/>
          </a:solidFill>
          <a:ln w="19050">
            <a:solidFill>
              <a:srgbClr val="F796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79646"/>
                </a:solidFill>
                <a:latin typeface="Arial"/>
              </a:rPr>
              <a:t>Q3  Can a drug raise BubR1?    </a:t>
            </a:r>
            <a:r>
              <a:rPr sz="2000" b="0">
                <a:solidFill>
                  <a:srgbClr val="000000"/>
                </a:solidFill>
                <a:latin typeface="Arial"/>
              </a:rPr>
              <a:t>No. Zero compounds across 107,407 curated pairs, and no PP2A activator.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4398264"/>
            <a:ext cx="11384280" cy="969264"/>
          </a:xfrm>
          <a:prstGeom prst="roundRect">
            <a:avLst>
              <a:gd name="adj" fmla="val 7000"/>
            </a:avLst>
          </a:prstGeom>
          <a:solidFill>
            <a:srgbClr val="ECF7EE"/>
          </a:solidFill>
          <a:ln w="19050">
            <a:solidFill>
              <a:srgbClr val="00B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00B050"/>
                </a:solidFill>
                <a:latin typeface="Arial"/>
              </a:rPr>
              <a:t>Q4  What else sits on the node?    </a:t>
            </a:r>
            <a:r>
              <a:rPr sz="2000" b="0">
                <a:solidFill>
                  <a:srgbClr val="000000"/>
                </a:solidFill>
                <a:latin typeface="Arial"/>
              </a:rPr>
              <a:t>Aurora B — the one target where human exposure runs in our favour.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5504688"/>
            <a:ext cx="11384280" cy="1042415"/>
          </a:xfrm>
          <a:prstGeom prst="roundRect">
            <a:avLst>
              <a:gd name="adj" fmla="val 7000"/>
            </a:avLst>
          </a:prstGeom>
          <a:solidFill>
            <a:srgbClr val="ECF7EE"/>
          </a:solidFill>
          <a:ln w="19050">
            <a:solidFill>
              <a:srgbClr val="00B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ctr">
              <a:spcAft>
                <a:spcPts val="600"/>
              </a:spcAft>
            </a:pPr>
            <a:r>
              <a:rPr sz="2100" b="1" i="0">
                <a:solidFill>
                  <a:srgbClr val="00B050"/>
                </a:solidFill>
                <a:latin typeface="Arial"/>
              </a:rPr>
              <a:t>The prediction: partial Aurora B inhibition rescues congression in this child's cells BEFORE it costs checkpoint competence. If it does not, we are wrong.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