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Rebalancing the kinetochore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 i="0">
                <a:solidFill>
                  <a:srgbClr val="C9D6E6"/>
                </a:solidFill>
                <a:latin typeface="Arial"/>
              </a:rPr>
              <a:t>A drug-repurposing case for one child with mosaic variegated aneuploidy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 i="1">
                <a:solidFill>
                  <a:srgbClr val="F79646"/>
                </a:solidFill>
                <a:latin typeface="Arial"/>
              </a:rPr>
              <a:t>“Every cell-cycle drug in clinical use was built to break the cell cycle.</a:t>
            </a:r>
          </a:p>
          <a:p>
            <a:pPr algn="l">
              <a:spcAft>
                <a:spcPts val="600"/>
              </a:spcAft>
            </a:pPr>
            <a:r>
              <a:rPr sz="2600" b="0" i="1">
                <a:solidFill>
                  <a:srgbClr val="F79646"/>
                </a:solidFill>
                <a:latin typeface="Arial"/>
              </a:rPr>
              <a:t>Not one was built to make it work better.”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9FB6CE"/>
                </a:solidFill>
                <a:latin typeface="Arial"/>
              </a:rPr>
              <a:t>MVA Hackathon 2026  ·  Track 2  ·  proband WGS_EX2312012  ·  BUB1B p.Leu737Ter / p.Asn1002Lys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0" i="0">
                <a:solidFill>
                  <a:srgbClr val="FFFFFF"/>
                </a:solidFill>
                <a:latin typeface="Arial"/>
              </a:rPr>
              <a:t>THE PROBLEM: every cell division is a chance to get the chromosome count wrong</a:t>
            </a:r>
          </a:p>
        </p:txBody>
      </p:sp>
      <p:pic>
        <p:nvPicPr>
          <p:cNvPr id="3" name="Picture 2" descr="pap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616" y="987552"/>
            <a:ext cx="9019718" cy="1920240"/>
          </a:xfrm>
          <a:prstGeom prst="rect">
            <a:avLst/>
          </a:prstGeom>
        </p:spPr>
      </p:pic>
      <p:pic>
        <p:nvPicPr>
          <p:cNvPr id="4" name="Picture 3" descr="pap_atta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8693" y="3063240"/>
            <a:ext cx="3240452" cy="3063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577840" y="3063240"/>
            <a:ext cx="6217920" cy="1426464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4F81BD"/>
                </a:solidFill>
                <a:latin typeface="Arial"/>
              </a:rPr>
              <a:t>A checkpoint guards the hand-off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Arial"/>
              </a:rPr>
              <a:t>Each chromosome must grip both poles. Three of the four ways it can attach are wrong, so the cell holds mitosis until every one is right.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4700016"/>
            <a:ext cx="6217920" cy="1426464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C0392B"/>
                </a:solidFill>
                <a:latin typeface="Arial"/>
              </a:rPr>
              <a:t>In this child the guard is weak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Arial"/>
              </a:rPr>
              <a:t>MVA: cells are born with the wrong chromosome count, giving growth failure, microcephaly and childhood cancer risk.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6446520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Bloom &amp; North 2021 PMID 33892776 · McVey 2021 PMID 34445523, CC BY 4.0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0" i="0">
                <a:solidFill>
                  <a:srgbClr val="FFFFFF"/>
                </a:solidFill>
                <a:latin typeface="Arial"/>
              </a:rPr>
              <a:t>THE QUESTIONS we made this work answer, before we let ourselves pick anything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84280" cy="1152144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4F81BD"/>
                </a:solidFill>
                <a:latin typeface="Arial"/>
              </a:rPr>
              <a:t>1   </a:t>
            </a:r>
            <a:r>
              <a:rPr sz="2300" b="1">
                <a:solidFill>
                  <a:srgbClr val="000000"/>
                </a:solidFill>
                <a:latin typeface="Arial"/>
              </a:rPr>
              <a:t>What do these two alleles actually leave behind?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5C5C5C"/>
                </a:solidFill>
                <a:latin typeface="Arial"/>
              </a:rPr>
              <a:t>      Not “pathogenic”. How much protein, and with which domains.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459736"/>
            <a:ext cx="11384280" cy="1152144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4F81BD"/>
                </a:solidFill>
                <a:latin typeface="Arial"/>
              </a:rPr>
              <a:t>2   </a:t>
            </a:r>
            <a:r>
              <a:rPr sz="2300" b="1">
                <a:solidFill>
                  <a:srgbClr val="000000"/>
                </a:solidFill>
                <a:latin typeface="Arial"/>
              </a:rPr>
              <a:t>Is the deficit reversible at all?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5C5C5C"/>
                </a:solidFill>
                <a:latin typeface="Arial"/>
              </a:rPr>
              <a:t>      If restoring BubR1 does nothing, no drug can work. Someone tested this.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712464"/>
            <a:ext cx="11384280" cy="1152144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F796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79646"/>
                </a:solidFill>
                <a:latin typeface="Arial"/>
              </a:rPr>
              <a:t>3   </a:t>
            </a:r>
            <a:r>
              <a:rPr sz="2300" b="1">
                <a:solidFill>
                  <a:srgbClr val="000000"/>
                </a:solidFill>
                <a:latin typeface="Arial"/>
              </a:rPr>
              <a:t>Is there any drug that raises BubR1, or its phosphatase?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5C5C5C"/>
                </a:solidFill>
                <a:latin typeface="Arial"/>
              </a:rPr>
              <a:t>      Asked across the whole druggable universe, not a shortlist.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965192"/>
            <a:ext cx="11384280" cy="1152144"/>
          </a:xfrm>
          <a:prstGeom prst="roundRect">
            <a:avLst>
              <a:gd name="adj" fmla="val 7000"/>
            </a:avLst>
          </a:prstGeom>
          <a:solidFill>
            <a:srgbClr val="ECF7EE"/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00B050"/>
                </a:solidFill>
                <a:latin typeface="Arial"/>
              </a:rPr>
              <a:t>4   </a:t>
            </a:r>
            <a:r>
              <a:rPr sz="2300" b="1">
                <a:solidFill>
                  <a:srgbClr val="000000"/>
                </a:solidFill>
                <a:latin typeface="Arial"/>
              </a:rPr>
              <a:t>If not, what else sits on the same node — and at what dose?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5C5C5C"/>
                </a:solidFill>
                <a:latin typeface="Arial"/>
              </a:rPr>
              <a:t>      Answered on measured human exposure, or not answered.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F79646"/>
                </a:solidFill>
                <a:latin typeface="Arial"/>
              </a:rPr>
              <a:t>Each question had to close before the next one opened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500" b="0" i="0">
                <a:solidFill>
                  <a:srgbClr val="FFFFFF"/>
                </a:solidFill>
                <a:latin typeface="Arial"/>
              </a:rPr>
              <a:t>Q1 — Two alleles, and the domain that sits between them</a:t>
            </a:r>
          </a:p>
        </p:txBody>
      </p:sp>
      <p:pic>
        <p:nvPicPr>
          <p:cNvPr id="3" name="Picture 2" descr="fig_domain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649" y="1024128"/>
            <a:ext cx="11341652" cy="36118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4773168"/>
            <a:ext cx="3611880" cy="1335024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4F81BD"/>
                </a:solidFill>
                <a:latin typeface="Arial"/>
              </a:rPr>
              <a:t>Allele 1 truncates at 737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747 nt upstream of the last exon-exon junction, far past the 50-55 nt rule, so the transcript is destroyed.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88536" y="4773168"/>
            <a:ext cx="3611880" cy="1335024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4F81BD"/>
                </a:solidFill>
                <a:latin typeface="Arial"/>
              </a:rPr>
              <a:t>Allele 2 is buried, not surface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87% buried. PREDICTED to be made, then degraded — a dosage mutant, not an interface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65592" y="4773168"/>
            <a:ext cx="3611880" cy="1335024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F796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F79646"/>
                </a:solidFill>
                <a:latin typeface="Arial"/>
              </a:rPr>
              <a:t>Both land on the KARD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667–681: the motif that recruits the phosphatase PP2A-B56.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6446520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Domain layout adapted from Bloom &amp; North 2021, PMID 33892776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500" b="0" i="0">
                <a:solidFill>
                  <a:srgbClr val="FFFFFF"/>
                </a:solidFill>
                <a:latin typeface="Arial"/>
              </a:rPr>
              <a:t>SCALABILITY (15%) — we scored every BUB1B allele, not this child's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098280" y="877824"/>
            <a:ext cx="2697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1">
                <a:solidFill>
                  <a:srgbClr val="F79646"/>
                </a:solidFill>
                <a:latin typeface="Arial"/>
              </a:rPr>
              <a:t>Scalability  </a:t>
            </a:r>
            <a:r>
              <a:rPr sz="1400" b="0">
                <a:solidFill>
                  <a:srgbClr val="5C5C5C"/>
                </a:solidFill>
                <a:latin typeface="Arial"/>
              </a:rPr>
              <a:t>15%</a:t>
            </a:r>
          </a:p>
        </p:txBody>
      </p:sp>
      <p:pic>
        <p:nvPicPr>
          <p:cNvPr id="4" name="Picture 3" descr="fig_sco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448" y="1280160"/>
            <a:ext cx="9740055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376672"/>
            <a:ext cx="11384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Suijkerbuijk reached the same two classes experimentally: truncating alleles lose the transcript, missense alleles are made and turned over.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6446520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Suijkerbuijk et al., Cancer Res 2010, PMID 20516114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0" i="0">
                <a:solidFill>
                  <a:srgbClr val="FFFFFF"/>
                </a:solidFill>
                <a:latin typeface="Arial"/>
              </a:rPr>
              <a:t>Q1 — Aurora B LOOSENS grips on purpose. PP2A-B56 SETS them. This child cannot set.</a:t>
            </a:r>
          </a:p>
        </p:txBody>
      </p:sp>
      <p:pic>
        <p:nvPicPr>
          <p:cNvPr id="3" name="Picture 2" descr="pap_kcmt_ann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908" y="1024128"/>
            <a:ext cx="3328342" cy="513892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715000" y="1097280"/>
            <a:ext cx="6080760" cy="1444752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F796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79646"/>
                </a:solidFill>
                <a:latin typeface="Arial"/>
              </a:rPr>
              <a:t>AURORA B — the loosener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Phosphorylates the Hec1 grip. A phosphorylated grip lets go — that is how wrong attachments get broken.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15000" y="2633472"/>
            <a:ext cx="6080760" cy="1444752"/>
          </a:xfrm>
          <a:prstGeom prst="roundRect">
            <a:avLst>
              <a:gd name="adj" fmla="val 7000"/>
            </a:avLst>
          </a:prstGeom>
          <a:solidFill>
            <a:srgbClr val="ECF7EE"/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B050"/>
                </a:solidFill>
                <a:latin typeface="Arial"/>
              </a:rPr>
              <a:t>PP2A-B56 — the setter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Removes those phosphates so a correct grip can set. Both are needed: this is a tug-of-war.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0" y="4169663"/>
            <a:ext cx="6080760" cy="109728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BubR1 carries the eraser. Plk1's 3 phosphates on its KARD are the TICKET PP2A-B56 binds — a different set from Aurora B's, opposite job.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5358384"/>
            <a:ext cx="6080760" cy="804672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C0392B"/>
                </a:solidFill>
                <a:latin typeface="Arial"/>
              </a:rPr>
              <a:t>No KARD delivered → no setter arrives → Aurora B is not stronger, it is UNOPPOSED. So we lower it to match.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6446520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Adapted from Bloom &amp; North 2021, PMID 33892776, Fig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0" i="0">
                <a:solidFill>
                  <a:srgbClr val="FFFFFF"/>
                </a:solidFill>
                <a:latin typeface="Arial"/>
              </a:rPr>
              <a:t>Q2 — The deficit is reversible: put BubR1 back and the checkpoint recovers</a:t>
            </a:r>
          </a:p>
        </p:txBody>
      </p:sp>
      <p:pic>
        <p:nvPicPr>
          <p:cNvPr id="3" name="Picture 2" descr="pap_resc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40730"/>
            <a:ext cx="7269479" cy="369657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818120" y="1188720"/>
            <a:ext cx="3977639" cy="1572768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4F81BD"/>
                </a:solidFill>
                <a:latin typeface="Arial"/>
              </a:rPr>
              <a:t>This child's genotype shape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753X/R814H and 731X/Y155C: one truncating allele, one missense — the MVA pattern.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2907792"/>
            <a:ext cx="3977639" cy="1572768"/>
          </a:xfrm>
          <a:prstGeom prst="roundRect">
            <a:avLst>
              <a:gd name="adj" fmla="val 7000"/>
            </a:avLst>
          </a:prstGeom>
          <a:solidFill>
            <a:srgbClr val="ECF7EE"/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B050"/>
                </a:solidFill>
                <a:latin typeface="Arial"/>
              </a:rPr>
              <a:t>2.06x and 2.01x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Nocodazole arrest doubles when BubR1 is restored. Healthy controls and the carrier parent do not move.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18120" y="4626864"/>
            <a:ext cx="3977639" cy="1499616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F796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F79646"/>
                </a:solidFill>
                <a:latin typeface="Arial"/>
              </a:rPr>
              <a:t>But it does not normalise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15%→31% and 26%→50% of healthy. And no drug raises BubR1.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6446520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Suijkerbuijk et al., Cancer Res 2010, PMID 20516114, Fig 1D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0" i="0">
                <a:solidFill>
                  <a:srgbClr val="FFFFFF"/>
                </a:solidFill>
                <a:latin typeface="Arial"/>
              </a:rPr>
              <a:t>SCIENTIFIC RIGOR (35%) — Q3: ten arms, four themes, every one closed on a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098280" y="877824"/>
            <a:ext cx="2697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1">
                <a:solidFill>
                  <a:srgbClr val="F79646"/>
                </a:solidFill>
                <a:latin typeface="Arial"/>
              </a:rPr>
              <a:t>Scientific rigor  </a:t>
            </a:r>
            <a:r>
              <a:rPr sz="1400" b="0">
                <a:solidFill>
                  <a:srgbClr val="5C5C5C"/>
                </a:solidFill>
                <a:latin typeface="Arial"/>
              </a:rPr>
              <a:t>35%</a:t>
            </a:r>
          </a:p>
        </p:txBody>
      </p:sp>
      <p:pic>
        <p:nvPicPr>
          <p:cNvPr id="4" name="Picture 3" descr="fig_the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4037"/>
            <a:ext cx="5074920" cy="4131093"/>
          </a:xfrm>
          <a:prstGeom prst="rect">
            <a:avLst/>
          </a:prstGeom>
        </p:spPr>
      </p:pic>
      <p:pic>
        <p:nvPicPr>
          <p:cNvPr id="5" name="Picture 4" descr="fig_expo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1822370"/>
            <a:ext cx="6263640" cy="22988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23560" y="4526280"/>
            <a:ext cx="6263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Arial"/>
              </a:rPr>
              <a:t>Two gates closed these arms. EXPOSURE: most needed more drug than a person can be given. SAFETY: proteasome and HSP90 inhibitors are carcinogenic, disqualifying where tumour risk comes from missegregation.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F79646"/>
                </a:solidFill>
                <a:latin typeface="Arial"/>
              </a:rPr>
              <a:t>Three themes die upstream. One node survives.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0" i="0">
                <a:solidFill>
                  <a:srgbClr val="FFFFFF"/>
                </a:solidFill>
                <a:latin typeface="Arial"/>
              </a:rPr>
              <a:t>INNOVATION (25%) — many engines generate, one human decides, nothing rests on one paper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098280" y="877824"/>
            <a:ext cx="2697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1">
                <a:solidFill>
                  <a:srgbClr val="F79646"/>
                </a:solidFill>
                <a:latin typeface="Arial"/>
              </a:rPr>
              <a:t>Innovation  </a:t>
            </a:r>
            <a:r>
              <a:rPr sz="1400" b="0">
                <a:solidFill>
                  <a:srgbClr val="5C5C5C"/>
                </a:solidFill>
                <a:latin typeface="Arial"/>
              </a:rPr>
              <a:t>25%</a:t>
            </a:r>
          </a:p>
        </p:txBody>
      </p:sp>
      <p:pic>
        <p:nvPicPr>
          <p:cNvPr id="4" name="Picture 3" descr="fig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1317" y="1115568"/>
            <a:ext cx="9198885" cy="4041648"/>
          </a:xfrm>
          <a:prstGeom prst="rect">
            <a:avLst/>
          </a:prstGeom>
        </p:spPr>
      </p:pic>
      <p:pic>
        <p:nvPicPr>
          <p:cNvPr id="5" name="Picture 4" descr="fig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9876" y="5285232"/>
            <a:ext cx="7409199" cy="111556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0" i="0">
                <a:solidFill>
                  <a:srgbClr val="FFFFFF"/>
                </a:solidFill>
                <a:latin typeface="Arial"/>
              </a:rPr>
              <a:t>POTENTIAL IMPACT (25%) — Q4: lower the kinase, because the phosphatase cannot be raised</a:t>
            </a:r>
          </a:p>
        </p:txBody>
      </p:sp>
      <p:pic>
        <p:nvPicPr>
          <p:cNvPr id="3" name="Picture 2" descr="barasertib_hq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59" y="1440533"/>
            <a:ext cx="3291840" cy="18646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345643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C5C5C"/>
                </a:solidFill>
                <a:latin typeface="Arial"/>
              </a:rPr>
              <a:t>AZD2811-NP (barasertib-hQPA)</a:t>
            </a:r>
          </a:p>
        </p:txBody>
      </p:sp>
      <p:pic>
        <p:nvPicPr>
          <p:cNvPr id="5" name="Picture 4" descr="pap_kard_surf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276" y="3895344"/>
            <a:ext cx="2454806" cy="1417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358384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C5C5C"/>
                </a:solidFill>
                <a:latin typeface="Arial"/>
              </a:rPr>
              <a:t>PP2A-B56 with the BubR1 KARD bound — the groove neither allele reaches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77639" y="987552"/>
            <a:ext cx="7818120" cy="566928"/>
          </a:xfrm>
          <a:prstGeom prst="roundRect">
            <a:avLst>
              <a:gd name="adj" fmla="val 7000"/>
            </a:avLst>
          </a:prstGeom>
          <a:solidFill>
            <a:srgbClr val="ECF7EE"/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0B050"/>
                </a:solidFill>
                <a:latin typeface="Arial"/>
              </a:rPr>
              <a:t>OUR PICK   </a:t>
            </a:r>
            <a:r>
              <a:rPr sz="1800" b="0">
                <a:solidFill>
                  <a:srgbClr val="000000"/>
                </a:solidFill>
                <a:latin typeface="Arial"/>
              </a:rPr>
              <a:t>AZD2811-NP — AstraZeneca, in Phase II now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7639" y="1618488"/>
            <a:ext cx="7818120" cy="566928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F796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79646"/>
                </a:solidFill>
                <a:latin typeface="Arial"/>
              </a:rPr>
              <a:t>Built to do   </a:t>
            </a:r>
            <a:r>
              <a:rPr sz="1800" b="0">
                <a:solidFill>
                  <a:srgbClr val="000000"/>
                </a:solidFill>
                <a:latin typeface="Arial"/>
              </a:rPr>
              <a:t>KILL dividing cells — SCLC, AML, lymphoma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7639" y="2249424"/>
            <a:ext cx="7818120" cy="566928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0392B"/>
                </a:solidFill>
                <a:latin typeface="Arial"/>
              </a:rPr>
              <a:t>Status   </a:t>
            </a:r>
            <a:r>
              <a:rPr sz="1800" b="0">
                <a:solidFill>
                  <a:srgbClr val="000000"/>
                </a:solidFill>
                <a:latin typeface="Arial"/>
              </a:rPr>
              <a:t>Phase I/II. Never approved. Not withdrawn for safety.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39" y="2880360"/>
            <a:ext cx="7818120" cy="566928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0392B"/>
                </a:solidFill>
                <a:latin typeface="Arial"/>
              </a:rPr>
              <a:t>Dose-limiting tox   </a:t>
            </a:r>
            <a:r>
              <a:rPr sz="1800" b="0">
                <a:solidFill>
                  <a:srgbClr val="000000"/>
                </a:solidFill>
                <a:latin typeface="Arial"/>
              </a:rPr>
              <a:t>neutropenia, from ABLATING Aurora B in marrow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3511296"/>
            <a:ext cx="7818120" cy="566928"/>
          </a:xfrm>
          <a:prstGeom prst="roundRect">
            <a:avLst>
              <a:gd name="adj" fmla="val 7000"/>
            </a:avLst>
          </a:prstGeom>
          <a:solidFill>
            <a:srgbClr val="ECF7EE"/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0B050"/>
                </a:solidFill>
                <a:latin typeface="Arial"/>
              </a:rPr>
              <a:t>Why the NP   </a:t>
            </a:r>
            <a:r>
              <a:rPr sz="1800" b="0">
                <a:solidFill>
                  <a:srgbClr val="000000"/>
                </a:solidFill>
                <a:latin typeface="Arial"/>
              </a:rPr>
              <a:t>2-h infusion not 7-day, and the live asset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4187952"/>
            <a:ext cx="7818120" cy="786384"/>
          </a:xfrm>
          <a:prstGeom prst="roundRect">
            <a:avLst>
              <a:gd name="adj" fmla="val 7000"/>
            </a:avLst>
          </a:prstGeom>
          <a:solidFill>
            <a:srgbClr val="ECF7EE"/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00B050"/>
                </a:solidFill>
                <a:latin typeface="Arial"/>
              </a:rPr>
              <a:t>That toxicity is the ARGUMENT, not the obstacle</a:t>
            </a:r>
          </a:p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Arial"/>
              </a:rPr>
              <a:t>It comes from ABLATING Aurora B. We want 30-50% engagement.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77639" y="5047488"/>
            <a:ext cx="7818120" cy="585216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5C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Arial"/>
              </a:rPr>
              <a:t>Alisertib? Oral, given to 139 children — but it targets Aurora A, the wrong kinase. Caveat we own: the NP releases over days.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5687568"/>
            <a:ext cx="2514600" cy="73152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4F81BD"/>
                </a:solidFill>
                <a:latin typeface="Arial"/>
              </a:rPr>
              <a:t>0.37 nM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Arial"/>
              </a:rPr>
              <a:t>Aurora B IC50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29400" y="5687568"/>
            <a:ext cx="2514600" cy="73152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4F81BD"/>
                </a:solidFill>
                <a:latin typeface="Arial"/>
              </a:rPr>
              <a:t>3,700x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Arial"/>
              </a:rPr>
              <a:t>over Aurora 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81160" y="5687568"/>
            <a:ext cx="2514600" cy="731520"/>
          </a:xfrm>
          <a:prstGeom prst="roundRect">
            <a:avLst>
              <a:gd name="adj" fmla="val 7000"/>
            </a:avLst>
          </a:prstGeom>
          <a:solidFill>
            <a:srgbClr val="ECF7EE"/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00B050"/>
                </a:solidFill>
                <a:latin typeface="Arial"/>
              </a:rPr>
              <a:t>&lt;100 mg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Arial"/>
              </a:rPr>
              <a:t>our proposed dose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0" i="0">
                <a:solidFill>
                  <a:srgbClr val="FFFFFF"/>
                </a:solidFill>
                <a:latin typeface="Arial"/>
              </a:rPr>
              <a:t>The dose, anchored on human data: BELOW the dose that first touches marrow</a:t>
            </a:r>
          </a:p>
        </p:txBody>
      </p:sp>
      <p:pic>
        <p:nvPicPr>
          <p:cNvPr id="3" name="Picture 2" descr="fig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70508"/>
            <a:ext cx="6035039" cy="361055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320040" y="4846320"/>
            <a:ext cx="6035040" cy="1298448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4F81BD"/>
                </a:solidFill>
                <a:latin typeface="Arial"/>
              </a:rPr>
              <a:t>AZD2811 phase I mapped this in humans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Arial"/>
              </a:rPr>
              <a:t>51 patients, 15-600 mg. Neutropenia is the ON-TARGET marker of Aurora B engagement — and the toxicity we must avoid. At the oncology dose it is severe. That is the argument for going far below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097280"/>
            <a:ext cx="5120640" cy="1225296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C0392B"/>
                </a:solidFill>
                <a:latin typeface="Arial"/>
              </a:rPr>
              <a:t>500 mg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Arial"/>
              </a:rPr>
              <a:t>oncology RP2D + G-CSF.
15 of 21 had grade 3+ AEs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2432304"/>
            <a:ext cx="5120640" cy="1225296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F796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F79646"/>
                </a:solidFill>
                <a:latin typeface="Arial"/>
              </a:rPr>
              <a:t>200 mg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Arial"/>
              </a:rPr>
              <a:t>where marrow pharmacology
FIRST appears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3767328"/>
            <a:ext cx="5120640" cy="1225296"/>
          </a:xfrm>
          <a:prstGeom prst="roundRect">
            <a:avLst>
              <a:gd name="adj" fmla="val 7000"/>
            </a:avLst>
          </a:prstGeom>
          <a:solidFill>
            <a:srgbClr val="ECF7EE"/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00B050"/>
                </a:solidFill>
                <a:latin typeface="Arial"/>
              </a:rPr>
              <a:t>≤100 mg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Arial"/>
              </a:rPr>
              <a:t>cohorts 1-5: NO neutropenia,
NO dose-limiting toxicity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5102352"/>
            <a:ext cx="5120640" cy="1042415"/>
          </a:xfrm>
          <a:prstGeom prst="roundRect">
            <a:avLst>
              <a:gd name="adj" fmla="val 7000"/>
            </a:avLst>
          </a:prstGeom>
          <a:solidFill>
            <a:srgbClr val="ECF7EE"/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00B050"/>
                </a:solidFill>
                <a:latin typeface="Arial"/>
              </a:rPr>
              <a:t>We propose BELOW 100 mg/cycle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Arial"/>
              </a:rPr>
              <a:t>a 5x reduction, in the SAME formulation, titrated on phospho-Hec1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6446520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Falchook 2023 PMID 36871042 · Johnson 2026 PMID 41933194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500" b="0" i="0">
                <a:solidFill>
                  <a:srgbClr val="FFFFFF"/>
                </a:solidFill>
                <a:latin typeface="Arial"/>
              </a:rPr>
              <a:t>The moonshot: programmable translation, on the message the patient already has</a:t>
            </a:r>
          </a:p>
        </p:txBody>
      </p:sp>
      <p:pic>
        <p:nvPicPr>
          <p:cNvPr id="3" name="Picture 2" descr="pap_tr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888" y="1051560"/>
            <a:ext cx="7801174" cy="27889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4023360"/>
            <a:ext cx="3703320" cy="210312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4F81BD"/>
                </a:solidFill>
                <a:latin typeface="Arial"/>
              </a:rPr>
              <a:t>What it does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A separate capped RNA (orange) base-pairs with the target mRNA (blue). The ribosome loads from the trans-cap and is handed to a start codon of our choosing.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4256" y="4023360"/>
            <a:ext cx="3703320" cy="2103120"/>
          </a:xfrm>
          <a:prstGeom prst="roundRect">
            <a:avLst>
              <a:gd name="adj" fmla="val 7000"/>
            </a:avLst>
          </a:prstGeom>
          <a:solidFill>
            <a:srgbClr val="ECF7EE"/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B050"/>
                </a:solidFill>
                <a:latin typeface="Arial"/>
              </a:rPr>
              <a:t>Why it reaches this child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Allele 1's transcript is gone, so nothing can rescue it. But allele 2's message IS present — raising its output is a genome-free way to restore the dose.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57031" y="4023360"/>
            <a:ext cx="3520440" cy="2103120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F796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79646"/>
                </a:solidFill>
                <a:latin typeface="Arial"/>
              </a:rPr>
              <a:t>Why it deserves funding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One mechanism, no edit, and dosage disease is a whole class. Delivery is the unsolved half: liver and muscle today, brain and marrow not yet.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6446520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Jia et al., Nat Biotechnol 2025, Fig 1a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500" b="0" i="0">
                <a:solidFill>
                  <a:srgbClr val="FFFFFF"/>
                </a:solidFill>
                <a:latin typeface="Arial"/>
              </a:rPr>
              <a:t>What we answered, and the one prediction we commit to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84280" cy="969264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4F81BD"/>
                </a:solidFill>
                <a:latin typeface="Arial"/>
              </a:rPr>
              <a:t>Q1  What do the alleles leave?    </a:t>
            </a:r>
            <a:r>
              <a:rPr sz="2000" b="0">
                <a:solidFill>
                  <a:srgbClr val="000000"/>
                </a:solidFill>
                <a:latin typeface="Arial"/>
              </a:rPr>
              <a:t>No transcript, and an unstable protein. Both lose the KARD's function.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58568"/>
            <a:ext cx="11384280" cy="969264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4F81BD"/>
                </a:solidFill>
                <a:latin typeface="Arial"/>
              </a:rPr>
              <a:t>Q2  Is it reversible?    </a:t>
            </a:r>
            <a:r>
              <a:rPr sz="2000" b="0">
                <a:solidFill>
                  <a:srgbClr val="000000"/>
                </a:solidFill>
                <a:latin typeface="Arial"/>
              </a:rPr>
              <a:t>Yes — restoring BubR1 doubles checkpoint arrest in patient cells.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5"/>
            <a:ext cx="11384280" cy="969264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F796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79646"/>
                </a:solidFill>
                <a:latin typeface="Arial"/>
              </a:rPr>
              <a:t>Q3  Can a drug raise BubR1?    </a:t>
            </a:r>
            <a:r>
              <a:rPr sz="2000" b="0">
                <a:solidFill>
                  <a:srgbClr val="000000"/>
                </a:solidFill>
                <a:latin typeface="Arial"/>
              </a:rPr>
              <a:t>No. Zero compounds across 107,407 curated pairs, and no PP2A activator.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98264"/>
            <a:ext cx="11384280" cy="969264"/>
          </a:xfrm>
          <a:prstGeom prst="roundRect">
            <a:avLst>
              <a:gd name="adj" fmla="val 7000"/>
            </a:avLst>
          </a:prstGeom>
          <a:solidFill>
            <a:srgbClr val="ECF7EE"/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00B050"/>
                </a:solidFill>
                <a:latin typeface="Arial"/>
              </a:rPr>
              <a:t>Q4  What else sits on the node?    </a:t>
            </a:r>
            <a:r>
              <a:rPr sz="2000" b="0">
                <a:solidFill>
                  <a:srgbClr val="000000"/>
                </a:solidFill>
                <a:latin typeface="Arial"/>
              </a:rPr>
              <a:t>Aurora B — the one target where human exposure runs in our favour.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504688"/>
            <a:ext cx="11384280" cy="1042415"/>
          </a:xfrm>
          <a:prstGeom prst="roundRect">
            <a:avLst>
              <a:gd name="adj" fmla="val 7000"/>
            </a:avLst>
          </a:prstGeom>
          <a:solidFill>
            <a:srgbClr val="ECF7EE"/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B050"/>
                </a:solidFill>
                <a:latin typeface="Arial"/>
              </a:rPr>
              <a:t>The prediction: partial Aurora B inhibition rescues congression in this child's cells BEFORE it costs checkpoint competence. If it does not, we are wrong.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