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pic>
        <p:nvPicPr>
          <p:cNvPr id="3" name="Picture 2" descr="barasertib_hqpa.png"/>
          <p:cNvPicPr>
            <a:picLocks noChangeAspect="1"/>
          </p:cNvPicPr>
          <p:nvPr/>
        </p:nvPicPr>
        <p:blipFill>
          <a:blip r:embed="rId2"/>
          <a:stretch>
            <a:fillRect/>
          </a:stretch>
        </p:blipFill>
        <p:spPr>
          <a:xfrm>
            <a:off x="365759" y="1440533"/>
            <a:ext cx="3291840" cy="1864668"/>
          </a:xfrm>
          <a:prstGeom prst="rect">
            <a:avLst/>
          </a:prstGeom>
        </p:spPr>
      </p:pic>
      <p:sp>
        <p:nvSpPr>
          <p:cNvPr id="4" name="TextBox 3"/>
          <p:cNvSpPr txBox="1"/>
          <p:nvPr/>
        </p:nvSpPr>
        <p:spPr>
          <a:xfrm>
            <a:off x="365760" y="3456432"/>
            <a:ext cx="3291840" cy="384048"/>
          </a:xfrm>
          <a:prstGeom prst="rect">
            <a:avLst/>
          </a:prstGeom>
          <a:noFill/>
        </p:spPr>
        <p:txBody>
          <a:bodyPr wrap="square">
            <a:spAutoFit/>
          </a:bodyPr>
          <a:lstStyle/>
          <a:p>
            <a:pPr algn="ctr">
              <a:spcAft>
                <a:spcPts val="600"/>
              </a:spcAft>
            </a:pPr>
            <a:r>
              <a:rPr sz="1400" b="0" i="0">
                <a:solidFill>
                  <a:srgbClr val="5C5C5C"/>
                </a:solidFill>
                <a:latin typeface="Arial"/>
              </a:rPr>
              <a:t>AZD2811-NP — nanoparticle-encapsulated AZD2811,
formerly barasertib-hQPA</a:t>
            </a:r>
          </a:p>
        </p:txBody>
      </p:sp>
      <p:pic>
        <p:nvPicPr>
          <p:cNvPr id="5" name="Picture 4" descr="pap_kard_surface.png"/>
          <p:cNvPicPr>
            <a:picLocks noChangeAspect="1"/>
          </p:cNvPicPr>
          <p:nvPr/>
        </p:nvPicPr>
        <p:blipFill>
          <a:blip r:embed="rId3"/>
          <a:stretch>
            <a:fillRect/>
          </a:stretch>
        </p:blipFill>
        <p:spPr>
          <a:xfrm>
            <a:off x="784276" y="3895344"/>
            <a:ext cx="2454806" cy="1417320"/>
          </a:xfrm>
          <a:prstGeom prst="rect">
            <a:avLst/>
          </a:prstGeom>
        </p:spPr>
      </p:pic>
      <p:sp>
        <p:nvSpPr>
          <p:cNvPr id="6" name="TextBox 5"/>
          <p:cNvSpPr txBox="1"/>
          <p:nvPr/>
        </p:nvSpPr>
        <p:spPr>
          <a:xfrm>
            <a:off x="365760" y="5358384"/>
            <a:ext cx="3291840" cy="731520"/>
          </a:xfrm>
          <a:prstGeom prst="rect">
            <a:avLst/>
          </a:prstGeom>
          <a:noFill/>
        </p:spPr>
        <p:txBody>
          <a:bodyPr wrap="square">
            <a:spAutoFit/>
          </a:bodyPr>
          <a:lstStyle/>
          <a:p>
            <a:pPr algn="ctr">
              <a:spcAft>
                <a:spcPts val="600"/>
              </a:spcAft>
            </a:pPr>
            <a:r>
              <a:rPr sz="1300" b="0" i="0">
                <a:solidFill>
                  <a:srgbClr val="5C5C5C"/>
                </a:solidFill>
                <a:latin typeface="Arial"/>
              </a:rPr>
              <a:t>PP2A-B56 with the BubR1 KARD bound — the groove neither allele reaches</a:t>
            </a:r>
          </a:p>
        </p:txBody>
      </p:sp>
      <p:sp>
        <p:nvSpPr>
          <p:cNvPr id="7" name="Rounded Rectangle 6"/>
          <p:cNvSpPr/>
          <p:nvPr/>
        </p:nvSpPr>
        <p:spPr>
          <a:xfrm>
            <a:off x="3977639" y="987552"/>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OUR PICK   </a:t>
            </a:r>
            <a:r>
              <a:rPr sz="1800" b="0">
                <a:solidFill>
                  <a:srgbClr val="000000"/>
                </a:solidFill>
                <a:latin typeface="Arial"/>
              </a:rPr>
              <a:t>AZD2811-NP — AstraZeneca, in Phase II now</a:t>
            </a:r>
          </a:p>
        </p:txBody>
      </p:sp>
      <p:sp>
        <p:nvSpPr>
          <p:cNvPr id="8" name="Rounded Rectangle 7"/>
          <p:cNvSpPr/>
          <p:nvPr/>
        </p:nvSpPr>
        <p:spPr>
          <a:xfrm>
            <a:off x="3977639" y="1618488"/>
            <a:ext cx="7818120" cy="56692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F79646"/>
                </a:solidFill>
                <a:latin typeface="Arial"/>
              </a:rPr>
              <a:t>Built to do   </a:t>
            </a:r>
            <a:r>
              <a:rPr sz="1800" b="0">
                <a:solidFill>
                  <a:srgbClr val="000000"/>
                </a:solidFill>
                <a:latin typeface="Arial"/>
              </a:rPr>
              <a:t>KILL dividing cells — SCLC, AML, lymphoma</a:t>
            </a:r>
          </a:p>
        </p:txBody>
      </p:sp>
      <p:sp>
        <p:nvSpPr>
          <p:cNvPr id="9" name="Rounded Rectangle 8"/>
          <p:cNvSpPr/>
          <p:nvPr/>
        </p:nvSpPr>
        <p:spPr>
          <a:xfrm>
            <a:off x="3977639" y="2249424"/>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Status   </a:t>
            </a:r>
            <a:r>
              <a:rPr sz="1800" b="0">
                <a:solidFill>
                  <a:srgbClr val="000000"/>
                </a:solidFill>
                <a:latin typeface="Arial"/>
              </a:rPr>
              <a:t>Phase I/II. Never approved. Not withdrawn for safety.</a:t>
            </a:r>
          </a:p>
        </p:txBody>
      </p:sp>
      <p:sp>
        <p:nvSpPr>
          <p:cNvPr id="10" name="Rounded Rectangle 9"/>
          <p:cNvSpPr/>
          <p:nvPr/>
        </p:nvSpPr>
        <p:spPr>
          <a:xfrm>
            <a:off x="3977639" y="2880360"/>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Dose-limiting tox   </a:t>
            </a:r>
            <a:r>
              <a:rPr sz="1800" b="0">
                <a:solidFill>
                  <a:srgbClr val="000000"/>
                </a:solidFill>
                <a:latin typeface="Arial"/>
              </a:rPr>
              <a:t>neutropenia, from ABLATING Aurora B in marrow</a:t>
            </a:r>
          </a:p>
        </p:txBody>
      </p:sp>
      <p:sp>
        <p:nvSpPr>
          <p:cNvPr id="11" name="Rounded Rectangle 10"/>
          <p:cNvSpPr/>
          <p:nvPr/>
        </p:nvSpPr>
        <p:spPr>
          <a:xfrm>
            <a:off x="3977639" y="3511296"/>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Why the NP, not the prodrug   </a:t>
            </a:r>
            <a:r>
              <a:rPr sz="1800" b="0">
                <a:solidFill>
                  <a:srgbClr val="000000"/>
                </a:solidFill>
                <a:latin typeface="Arial"/>
              </a:rPr>
              <a:t>2-h infusion not 7-day; the live asset, so a real supply route</a:t>
            </a:r>
          </a:p>
        </p:txBody>
      </p:sp>
      <p:sp>
        <p:nvSpPr>
          <p:cNvPr id="12" name="Rounded Rectangle 11"/>
          <p:cNvSpPr/>
          <p:nvPr/>
        </p:nvSpPr>
        <p:spPr>
          <a:xfrm>
            <a:off x="3977639" y="4187952"/>
            <a:ext cx="7818120" cy="78638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That toxicity is the ARGUMENT, not the obstacle</a:t>
            </a:r>
          </a:p>
          <a:p>
            <a:pPr algn="ctr">
              <a:spcAft>
                <a:spcPts val="600"/>
              </a:spcAft>
            </a:pPr>
            <a:r>
              <a:rPr sz="1700" b="0" i="0">
                <a:solidFill>
                  <a:srgbClr val="000000"/>
                </a:solidFill>
                <a:latin typeface="Arial"/>
              </a:rPr>
              <a:t>Neutropenia comes from ABLATING Aurora B at oncology exposure. We want 30-50% engagement, not ablation.</a:t>
            </a:r>
          </a:p>
        </p:txBody>
      </p:sp>
      <p:sp>
        <p:nvSpPr>
          <p:cNvPr id="13" name="Rounded Rectangle 12"/>
          <p:cNvSpPr/>
          <p:nvPr/>
        </p:nvSpPr>
        <p:spPr>
          <a:xfrm>
            <a:off x="3977639" y="5047488"/>
            <a:ext cx="7818120" cy="585216"/>
          </a:xfrm>
          <a:prstGeom prst="roundRect">
            <a:avLst>
              <a:gd name="adj" fmla="val 7000"/>
            </a:avLst>
          </a:prstGeom>
          <a:solidFill>
            <a:srgbClr val="F2F6FB"/>
          </a:solidFill>
          <a:ln w="1905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500" b="0" i="0">
                <a:solidFill>
                  <a:srgbClr val="000000"/>
                </a:solidFill>
                <a:latin typeface="Arial"/>
              </a:rPr>
              <a:t>Alisertib? Oral, given to 139 children (COG ADVL0921) — but it targets Aurora A, the wrong kinase. Design caveat we own: the NP releases over days, so dose-finding must allow for slow off-rate.</a:t>
            </a:r>
          </a:p>
        </p:txBody>
      </p:sp>
      <p:sp>
        <p:nvSpPr>
          <p:cNvPr id="14" name="Rounded Rectangle 13"/>
          <p:cNvSpPr/>
          <p:nvPr/>
        </p:nvSpPr>
        <p:spPr>
          <a:xfrm>
            <a:off x="3977639"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0.37 nM</a:t>
            </a:r>
          </a:p>
          <a:p>
            <a:pPr algn="ctr">
              <a:spcAft>
                <a:spcPts val="600"/>
              </a:spcAft>
            </a:pPr>
            <a:r>
              <a:rPr sz="1400" b="0" i="0">
                <a:solidFill>
                  <a:srgbClr val="000000"/>
                </a:solidFill>
                <a:latin typeface="Arial"/>
              </a:rPr>
              <a:t>Aurora B IC50</a:t>
            </a:r>
          </a:p>
        </p:txBody>
      </p:sp>
      <p:sp>
        <p:nvSpPr>
          <p:cNvPr id="15" name="Rounded Rectangle 14"/>
          <p:cNvSpPr/>
          <p:nvPr/>
        </p:nvSpPr>
        <p:spPr>
          <a:xfrm>
            <a:off x="6629400"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3,700x</a:t>
            </a:r>
          </a:p>
          <a:p>
            <a:pPr algn="ctr">
              <a:spcAft>
                <a:spcPts val="600"/>
              </a:spcAft>
            </a:pPr>
            <a:r>
              <a:rPr sz="1400" b="0" i="0">
                <a:solidFill>
                  <a:srgbClr val="000000"/>
                </a:solidFill>
                <a:latin typeface="Arial"/>
              </a:rPr>
              <a:t>over Aurora A</a:t>
            </a:r>
          </a:p>
        </p:txBody>
      </p:sp>
      <p:sp>
        <p:nvSpPr>
          <p:cNvPr id="16" name="Rounded Rectangle 15"/>
          <p:cNvSpPr/>
          <p:nvPr/>
        </p:nvSpPr>
        <p:spPr>
          <a:xfrm>
            <a:off x="9281160" y="5687568"/>
            <a:ext cx="2514600" cy="7315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00B050"/>
                </a:solidFill>
                <a:latin typeface="Arial"/>
              </a:rPr>
              <a:t>&lt;100 mg</a:t>
            </a:r>
          </a:p>
          <a:p>
            <a:pPr algn="ctr">
              <a:spcAft>
                <a:spcPts val="600"/>
              </a:spcAft>
            </a:pPr>
            <a:r>
              <a:rPr sz="1400" b="0" i="0">
                <a:solidFill>
                  <a:srgbClr val="000000"/>
                </a:solidFill>
                <a:latin typeface="Arial"/>
              </a:rPr>
              <a:t>our proposed dose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dose, anchored on human data: BELOW the dose that first touches marrow</a:t>
            </a:r>
          </a:p>
        </p:txBody>
      </p:sp>
      <p:pic>
        <p:nvPicPr>
          <p:cNvPr id="3" name="Picture 2" descr="fig_window.png"/>
          <p:cNvPicPr>
            <a:picLocks noChangeAspect="1"/>
          </p:cNvPicPr>
          <p:nvPr/>
        </p:nvPicPr>
        <p:blipFill>
          <a:blip r:embed="rId2"/>
          <a:stretch>
            <a:fillRect/>
          </a:stretch>
        </p:blipFill>
        <p:spPr>
          <a:xfrm>
            <a:off x="320040" y="1070508"/>
            <a:ext cx="6035039" cy="3610558"/>
          </a:xfrm>
          <a:prstGeom prst="rect">
            <a:avLst/>
          </a:prstGeom>
        </p:spPr>
      </p:pic>
      <p:sp>
        <p:nvSpPr>
          <p:cNvPr id="4" name="Rounded Rectangle 3"/>
          <p:cNvSpPr/>
          <p:nvPr/>
        </p:nvSpPr>
        <p:spPr>
          <a:xfrm>
            <a:off x="320040" y="4846320"/>
            <a:ext cx="6035040" cy="129844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4F81BD"/>
                </a:solidFill>
                <a:latin typeface="Arial"/>
              </a:rPr>
              <a:t>AZD2811 phase I mapped this in humans</a:t>
            </a:r>
          </a:p>
          <a:p>
            <a:pPr algn="l">
              <a:spcAft>
                <a:spcPts val="600"/>
              </a:spcAft>
            </a:pPr>
            <a:r>
              <a:rPr sz="1600" b="0" i="0">
                <a:solidFill>
                  <a:srgbClr val="000000"/>
                </a:solidFill>
                <a:latin typeface="Arial"/>
              </a:rPr>
              <a:t>51 patients, 15-600 mg. Neutropenia is the ON-TARGET marker of Aurora B engagement — and the toxicity we must avoid. At the oncology dose it is severe. That is the argument for going far below it.</a:t>
            </a:r>
          </a:p>
        </p:txBody>
      </p:sp>
      <p:sp>
        <p:nvSpPr>
          <p:cNvPr id="5" name="Rounded Rectangle 4"/>
          <p:cNvSpPr/>
          <p:nvPr/>
        </p:nvSpPr>
        <p:spPr>
          <a:xfrm>
            <a:off x="6675120" y="1097280"/>
            <a:ext cx="5120640" cy="1225296"/>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C0392B"/>
                </a:solidFill>
                <a:latin typeface="Arial"/>
              </a:rPr>
              <a:t>500 mg</a:t>
            </a:r>
          </a:p>
          <a:p>
            <a:pPr algn="ctr">
              <a:spcAft>
                <a:spcPts val="600"/>
              </a:spcAft>
            </a:pPr>
            <a:r>
              <a:rPr sz="1600" b="0" i="0">
                <a:solidFill>
                  <a:srgbClr val="000000"/>
                </a:solidFill>
                <a:latin typeface="Arial"/>
              </a:rPr>
              <a:t>oncology RP2D + G-CSF.
15 of 21 had grade 3+ AEs</a:t>
            </a:r>
          </a:p>
        </p:txBody>
      </p:sp>
      <p:sp>
        <p:nvSpPr>
          <p:cNvPr id="6" name="Rounded Rectangle 5"/>
          <p:cNvSpPr/>
          <p:nvPr/>
        </p:nvSpPr>
        <p:spPr>
          <a:xfrm>
            <a:off x="6675120" y="2432304"/>
            <a:ext cx="5120640" cy="122529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F79646"/>
                </a:solidFill>
                <a:latin typeface="Arial"/>
              </a:rPr>
              <a:t>200 mg</a:t>
            </a:r>
          </a:p>
          <a:p>
            <a:pPr algn="ctr">
              <a:spcAft>
                <a:spcPts val="600"/>
              </a:spcAft>
            </a:pPr>
            <a:r>
              <a:rPr sz="1600" b="0" i="0">
                <a:solidFill>
                  <a:srgbClr val="000000"/>
                </a:solidFill>
                <a:latin typeface="Arial"/>
              </a:rPr>
              <a:t>where marrow pharmacology
FIRST appears</a:t>
            </a:r>
          </a:p>
        </p:txBody>
      </p:sp>
      <p:sp>
        <p:nvSpPr>
          <p:cNvPr id="7" name="Rounded Rectangle 6"/>
          <p:cNvSpPr/>
          <p:nvPr/>
        </p:nvSpPr>
        <p:spPr>
          <a:xfrm>
            <a:off x="6675120" y="3767328"/>
            <a:ext cx="5120640" cy="1225296"/>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800" b="1">
                <a:solidFill>
                  <a:srgbClr val="00B050"/>
                </a:solidFill>
                <a:latin typeface="Arial"/>
              </a:rPr>
              <a:t>≤100 mg</a:t>
            </a:r>
          </a:p>
          <a:p>
            <a:pPr algn="ctr">
              <a:spcAft>
                <a:spcPts val="600"/>
              </a:spcAft>
            </a:pPr>
            <a:r>
              <a:rPr sz="1600" b="0" i="0">
                <a:solidFill>
                  <a:srgbClr val="000000"/>
                </a:solidFill>
                <a:latin typeface="Arial"/>
              </a:rPr>
              <a:t>cohorts 1-5: NO neutropenia,
NO dose-limiting toxicity</a:t>
            </a:r>
          </a:p>
        </p:txBody>
      </p:sp>
      <p:sp>
        <p:nvSpPr>
          <p:cNvPr id="8" name="Rounded Rectangle 7"/>
          <p:cNvSpPr/>
          <p:nvPr/>
        </p:nvSpPr>
        <p:spPr>
          <a:xfrm>
            <a:off x="6675120" y="5102352"/>
            <a:ext cx="512064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We propose BELOW 100 mg/cycle</a:t>
            </a:r>
          </a:p>
          <a:p>
            <a:pPr algn="ctr">
              <a:spcAft>
                <a:spcPts val="600"/>
              </a:spcAft>
            </a:pPr>
            <a:r>
              <a:rPr sz="1600" b="0" i="0">
                <a:solidFill>
                  <a:srgbClr val="000000"/>
                </a:solidFill>
                <a:latin typeface="Arial"/>
              </a:rPr>
              <a:t>a 5x reduction, in the SAME formulation, titrated on phospho-Hec1</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Falchook 2023 PMID 36871042 · Johnson 2026 PMID 41933194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