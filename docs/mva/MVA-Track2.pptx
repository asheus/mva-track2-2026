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1371600"/>
          </a:xfrm>
          <a:prstGeom prst="rect">
            <a:avLst/>
          </a:prstGeom>
          <a:noFill/>
        </p:spPr>
        <p:txBody>
          <a:bodyPr wrap="square">
            <a:spAutoFit/>
          </a:bodyPr>
          <a:lstStyle/>
          <a:p>
            <a:pPr algn="l">
              <a:spcAft>
                <a:spcPts val="600"/>
              </a:spcAft>
            </a:pPr>
            <a:r>
              <a:rPr sz="4400" b="1" i="0">
                <a:solidFill>
                  <a:srgbClr val="FFFFFF"/>
                </a:solidFill>
                <a:latin typeface="Arial"/>
              </a:rPr>
              <a:t>Rebalancing the kinetochore</a:t>
            </a:r>
          </a:p>
        </p:txBody>
      </p:sp>
      <p:sp>
        <p:nvSpPr>
          <p:cNvPr id="4" name="TextBox 3"/>
          <p:cNvSpPr txBox="1"/>
          <p:nvPr/>
        </p:nvSpPr>
        <p:spPr>
          <a:xfrm>
            <a:off x="822960" y="2697480"/>
            <a:ext cx="10515600" cy="914400"/>
          </a:xfrm>
          <a:prstGeom prst="rect">
            <a:avLst/>
          </a:prstGeom>
          <a:noFill/>
        </p:spPr>
        <p:txBody>
          <a:bodyPr wrap="square">
            <a:spAutoFit/>
          </a:bodyPr>
          <a:lstStyle/>
          <a:p>
            <a:pPr algn="l">
              <a:spcAft>
                <a:spcPts val="600"/>
              </a:spcAft>
            </a:pPr>
            <a:r>
              <a:rPr sz="2600" b="0" i="0">
                <a:solidFill>
                  <a:srgbClr val="C9D6E6"/>
                </a:solidFill>
                <a:latin typeface="Arial"/>
              </a:rPr>
              <a:t>A drug-repurposing case for one child with mosaic variegated aneuploidy</a:t>
            </a:r>
          </a:p>
        </p:txBody>
      </p:sp>
      <p:sp>
        <p:nvSpPr>
          <p:cNvPr id="5" name="TextBox 4"/>
          <p:cNvSpPr txBox="1"/>
          <p:nvPr/>
        </p:nvSpPr>
        <p:spPr>
          <a:xfrm>
            <a:off x="822960" y="3886200"/>
            <a:ext cx="10515600" cy="1737360"/>
          </a:xfrm>
          <a:prstGeom prst="rect">
            <a:avLst/>
          </a:prstGeom>
          <a:noFill/>
        </p:spPr>
        <p:txBody>
          <a:bodyPr wrap="square">
            <a:spAutoFit/>
          </a:bodyPr>
          <a:lstStyle/>
          <a:p>
            <a:pPr algn="l">
              <a:spcAft>
                <a:spcPts val="600"/>
              </a:spcAft>
            </a:pPr>
            <a:r>
              <a:rPr sz="2600" b="0" i="1">
                <a:solidFill>
                  <a:srgbClr val="F79646"/>
                </a:solidFill>
                <a:latin typeface="Arial"/>
              </a:rPr>
              <a:t>“Every cell-cycle drug in clinical use was built to break the cell cycle.</a:t>
            </a:r>
          </a:p>
          <a:p>
            <a:pPr algn="l">
              <a:spcAft>
                <a:spcPts val="600"/>
              </a:spcAft>
            </a:pPr>
            <a:r>
              <a:rPr sz="2600" b="0" i="1">
                <a:solidFill>
                  <a:srgbClr val="F79646"/>
                </a:solidFill>
                <a:latin typeface="Arial"/>
              </a:rPr>
              <a:t>Not one was built to make it work better.”</a:t>
            </a:r>
          </a:p>
        </p:txBody>
      </p:sp>
      <p:sp>
        <p:nvSpPr>
          <p:cNvPr id="6" name="TextBox 5"/>
          <p:cNvSpPr txBox="1"/>
          <p:nvPr/>
        </p:nvSpPr>
        <p:spPr>
          <a:xfrm>
            <a:off x="822960" y="5806440"/>
            <a:ext cx="10515600" cy="457200"/>
          </a:xfrm>
          <a:prstGeom prst="rect">
            <a:avLst/>
          </a:prstGeom>
          <a:noFill/>
        </p:spPr>
        <p:txBody>
          <a:bodyPr wrap="square">
            <a:spAutoFit/>
          </a:bodyPr>
          <a:lstStyle/>
          <a:p>
            <a:pPr algn="l">
              <a:spcAft>
                <a:spcPts val="600"/>
              </a:spcAft>
            </a:pPr>
            <a:r>
              <a:rPr sz="1500" b="0" i="0">
                <a:solidFill>
                  <a:srgbClr val="9FB6CE"/>
                </a:solidFill>
                <a:latin typeface="Arial"/>
              </a:rPr>
              <a:t>MVA Hackathon 2026  ·  Track 2  ·  proband WGS_EX2312012  ·  BUB1B p.Leu737Ter / p.Asn1002Lys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PROBLEM: every cell division is a chance to get the chromosome count wrong</a:t>
            </a:r>
          </a:p>
        </p:txBody>
      </p:sp>
      <p:pic>
        <p:nvPicPr>
          <p:cNvPr id="3" name="Picture 2" descr="pap_cycle.png"/>
          <p:cNvPicPr>
            <a:picLocks noChangeAspect="1"/>
          </p:cNvPicPr>
          <p:nvPr/>
        </p:nvPicPr>
        <p:blipFill>
          <a:blip r:embed="rId2"/>
          <a:stretch>
            <a:fillRect/>
          </a:stretch>
        </p:blipFill>
        <p:spPr>
          <a:xfrm>
            <a:off x="1584616" y="987552"/>
            <a:ext cx="9019718" cy="1920240"/>
          </a:xfrm>
          <a:prstGeom prst="rect">
            <a:avLst/>
          </a:prstGeom>
        </p:spPr>
      </p:pic>
      <p:pic>
        <p:nvPicPr>
          <p:cNvPr id="4" name="Picture 3" descr="pap_attach.png"/>
          <p:cNvPicPr>
            <a:picLocks noChangeAspect="1"/>
          </p:cNvPicPr>
          <p:nvPr/>
        </p:nvPicPr>
        <p:blipFill>
          <a:blip r:embed="rId3"/>
          <a:stretch>
            <a:fillRect/>
          </a:stretch>
        </p:blipFill>
        <p:spPr>
          <a:xfrm>
            <a:off x="1168693" y="3063240"/>
            <a:ext cx="3240452" cy="3063240"/>
          </a:xfrm>
          <a:prstGeom prst="rect">
            <a:avLst/>
          </a:prstGeom>
        </p:spPr>
      </p:pic>
      <p:sp>
        <p:nvSpPr>
          <p:cNvPr id="5" name="Rounded Rectangle 4"/>
          <p:cNvSpPr/>
          <p:nvPr/>
        </p:nvSpPr>
        <p:spPr>
          <a:xfrm>
            <a:off x="5577840" y="3063240"/>
            <a:ext cx="6217920" cy="14264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A checkpoint guards the hand-off</a:t>
            </a:r>
          </a:p>
          <a:p>
            <a:pPr algn="l">
              <a:spcAft>
                <a:spcPts val="600"/>
              </a:spcAft>
            </a:pPr>
            <a:r>
              <a:rPr sz="1900" b="0" i="0">
                <a:solidFill>
                  <a:srgbClr val="000000"/>
                </a:solidFill>
                <a:latin typeface="Arial"/>
              </a:rPr>
              <a:t>Each chromosome must grip both poles. Three of the four ways it can attach are wrong, so the cell holds mitosis until every one is right.</a:t>
            </a:r>
          </a:p>
        </p:txBody>
      </p:sp>
      <p:sp>
        <p:nvSpPr>
          <p:cNvPr id="6" name="Rounded Rectangle 5"/>
          <p:cNvSpPr/>
          <p:nvPr/>
        </p:nvSpPr>
        <p:spPr>
          <a:xfrm>
            <a:off x="5577840" y="4700016"/>
            <a:ext cx="6217920" cy="1426464"/>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C0392B"/>
                </a:solidFill>
                <a:latin typeface="Arial"/>
              </a:rPr>
              <a:t>In this child the guard is weak</a:t>
            </a:r>
          </a:p>
          <a:p>
            <a:pPr algn="l">
              <a:spcAft>
                <a:spcPts val="600"/>
              </a:spcAft>
            </a:pPr>
            <a:r>
              <a:rPr sz="1900" b="0" i="0">
                <a:solidFill>
                  <a:srgbClr val="000000"/>
                </a:solidFill>
                <a:latin typeface="Arial"/>
              </a:rPr>
              <a:t>MVA: cells are born with the wrong chromosome count, giving growth failure, microcephaly and childhood cancer risk.</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PMID 33892776 · McVey 2021 PMID 34445523, CC BY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QUESTIONS we made this work answer, before we let ourselves pick anything</a:t>
            </a:r>
          </a:p>
        </p:txBody>
      </p:sp>
      <p:sp>
        <p:nvSpPr>
          <p:cNvPr id="3" name="Rounded Rectangle 2"/>
          <p:cNvSpPr/>
          <p:nvPr/>
        </p:nvSpPr>
        <p:spPr>
          <a:xfrm>
            <a:off x="411480" y="1207008"/>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1   </a:t>
            </a:r>
            <a:r>
              <a:rPr sz="2300" b="1">
                <a:solidFill>
                  <a:srgbClr val="000000"/>
                </a:solidFill>
                <a:latin typeface="Arial"/>
              </a:rPr>
              <a:t>What do these two alleles actually leave behind?</a:t>
            </a:r>
          </a:p>
          <a:p>
            <a:pPr algn="l">
              <a:spcAft>
                <a:spcPts val="600"/>
              </a:spcAft>
            </a:pPr>
            <a:r>
              <a:rPr sz="1900" b="0" i="0">
                <a:solidFill>
                  <a:srgbClr val="5C5C5C"/>
                </a:solidFill>
                <a:latin typeface="Arial"/>
              </a:rPr>
              <a:t>      Not “pathogenic”. How much protein, and with which domains.</a:t>
            </a:r>
          </a:p>
        </p:txBody>
      </p:sp>
      <p:sp>
        <p:nvSpPr>
          <p:cNvPr id="4" name="Rounded Rectangle 3"/>
          <p:cNvSpPr/>
          <p:nvPr/>
        </p:nvSpPr>
        <p:spPr>
          <a:xfrm>
            <a:off x="411480" y="2459736"/>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2   </a:t>
            </a:r>
            <a:r>
              <a:rPr sz="2300" b="1">
                <a:solidFill>
                  <a:srgbClr val="000000"/>
                </a:solidFill>
                <a:latin typeface="Arial"/>
              </a:rPr>
              <a:t>Is the deficit reversible at all?</a:t>
            </a:r>
          </a:p>
          <a:p>
            <a:pPr algn="l">
              <a:spcAft>
                <a:spcPts val="600"/>
              </a:spcAft>
            </a:pPr>
            <a:r>
              <a:rPr sz="1900" b="0" i="0">
                <a:solidFill>
                  <a:srgbClr val="5C5C5C"/>
                </a:solidFill>
                <a:latin typeface="Arial"/>
              </a:rPr>
              <a:t>      If restoring BubR1 does nothing, no drug can work. Someone tested this.</a:t>
            </a:r>
          </a:p>
        </p:txBody>
      </p:sp>
      <p:sp>
        <p:nvSpPr>
          <p:cNvPr id="5" name="Rounded Rectangle 4"/>
          <p:cNvSpPr/>
          <p:nvPr/>
        </p:nvSpPr>
        <p:spPr>
          <a:xfrm>
            <a:off x="411480" y="3712464"/>
            <a:ext cx="11384280" cy="115214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F79646"/>
                </a:solidFill>
                <a:latin typeface="Arial"/>
              </a:rPr>
              <a:t>3   </a:t>
            </a:r>
            <a:r>
              <a:rPr sz="2300" b="1">
                <a:solidFill>
                  <a:srgbClr val="000000"/>
                </a:solidFill>
                <a:latin typeface="Arial"/>
              </a:rPr>
              <a:t>Is there any drug that raises BubR1, or its phosphatase?</a:t>
            </a:r>
          </a:p>
          <a:p>
            <a:pPr algn="l">
              <a:spcAft>
                <a:spcPts val="600"/>
              </a:spcAft>
            </a:pPr>
            <a:r>
              <a:rPr sz="1900" b="0" i="0">
                <a:solidFill>
                  <a:srgbClr val="5C5C5C"/>
                </a:solidFill>
                <a:latin typeface="Arial"/>
              </a:rPr>
              <a:t>      Asked across the whole druggable universe, not a shortlist.</a:t>
            </a:r>
          </a:p>
        </p:txBody>
      </p:sp>
      <p:sp>
        <p:nvSpPr>
          <p:cNvPr id="6" name="Rounded Rectangle 5"/>
          <p:cNvSpPr/>
          <p:nvPr/>
        </p:nvSpPr>
        <p:spPr>
          <a:xfrm>
            <a:off x="411480" y="4965192"/>
            <a:ext cx="11384280" cy="115214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00B050"/>
                </a:solidFill>
                <a:latin typeface="Arial"/>
              </a:rPr>
              <a:t>4   </a:t>
            </a:r>
            <a:r>
              <a:rPr sz="2300" b="1">
                <a:solidFill>
                  <a:srgbClr val="000000"/>
                </a:solidFill>
                <a:latin typeface="Arial"/>
              </a:rPr>
              <a:t>If not, what else sits on the same node — and at what dose?</a:t>
            </a:r>
          </a:p>
          <a:p>
            <a:pPr algn="l">
              <a:spcAft>
                <a:spcPts val="600"/>
              </a:spcAft>
            </a:pPr>
            <a:r>
              <a:rPr sz="1900" b="0" i="0">
                <a:solidFill>
                  <a:srgbClr val="5C5C5C"/>
                </a:solidFill>
                <a:latin typeface="Arial"/>
              </a:rPr>
              <a:t>      Answered on measured human exposure, or not answered.</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200" b="1" i="0">
                <a:solidFill>
                  <a:srgbClr val="F79646"/>
                </a:solidFill>
                <a:latin typeface="Arial"/>
              </a:rPr>
              <a:t>Each question had to close before the next one opened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Q1 — Two alleles, and the domain that sits between them</a:t>
            </a:r>
          </a:p>
        </p:txBody>
      </p:sp>
      <p:pic>
        <p:nvPicPr>
          <p:cNvPr id="3" name="Picture 2" descr="fig_domains2.png"/>
          <p:cNvPicPr>
            <a:picLocks noChangeAspect="1"/>
          </p:cNvPicPr>
          <p:nvPr/>
        </p:nvPicPr>
        <p:blipFill>
          <a:blip r:embed="rId2"/>
          <a:stretch>
            <a:fillRect/>
          </a:stretch>
        </p:blipFill>
        <p:spPr>
          <a:xfrm>
            <a:off x="423649" y="1024128"/>
            <a:ext cx="11341652" cy="3611880"/>
          </a:xfrm>
          <a:prstGeom prst="rect">
            <a:avLst/>
          </a:prstGeom>
        </p:spPr>
      </p:pic>
      <p:sp>
        <p:nvSpPr>
          <p:cNvPr id="4" name="Rounded Rectangle 3"/>
          <p:cNvSpPr/>
          <p:nvPr/>
        </p:nvSpPr>
        <p:spPr>
          <a:xfrm>
            <a:off x="411480"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1 truncates at 737</a:t>
            </a:r>
          </a:p>
          <a:p>
            <a:pPr algn="l">
              <a:spcAft>
                <a:spcPts val="600"/>
              </a:spcAft>
            </a:pPr>
            <a:r>
              <a:rPr sz="1800" b="0" i="0">
                <a:solidFill>
                  <a:srgbClr val="000000"/>
                </a:solidFill>
                <a:latin typeface="Arial"/>
              </a:rPr>
              <a:t>747 nt upstream of the last exon-exon junction, far past the 50-55 nt rule, so the transcript is destroyed.</a:t>
            </a:r>
          </a:p>
        </p:txBody>
      </p:sp>
      <p:sp>
        <p:nvSpPr>
          <p:cNvPr id="5" name="Rounded Rectangle 4"/>
          <p:cNvSpPr/>
          <p:nvPr/>
        </p:nvSpPr>
        <p:spPr>
          <a:xfrm>
            <a:off x="4288536"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2 is buried, not surface</a:t>
            </a:r>
          </a:p>
          <a:p>
            <a:pPr algn="l">
              <a:spcAft>
                <a:spcPts val="600"/>
              </a:spcAft>
            </a:pPr>
            <a:r>
              <a:rPr sz="1800" b="0" i="0">
                <a:solidFill>
                  <a:srgbClr val="000000"/>
                </a:solidFill>
                <a:latin typeface="Arial"/>
              </a:rPr>
              <a:t>87% buried, so PREDICTED to be made then degraded: a dosage mutant rather than an interface one. Abundance in patient cells is not yet measured.</a:t>
            </a:r>
          </a:p>
        </p:txBody>
      </p:sp>
      <p:sp>
        <p:nvSpPr>
          <p:cNvPr id="6" name="Rounded Rectangle 5"/>
          <p:cNvSpPr/>
          <p:nvPr/>
        </p:nvSpPr>
        <p:spPr>
          <a:xfrm>
            <a:off x="8165592" y="4773168"/>
            <a:ext cx="3611880" cy="133502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Both land on the KARD</a:t>
            </a:r>
          </a:p>
          <a:p>
            <a:pPr algn="l">
              <a:spcAft>
                <a:spcPts val="600"/>
              </a:spcAft>
            </a:pPr>
            <a:r>
              <a:rPr sz="1800" b="0" i="0">
                <a:solidFill>
                  <a:srgbClr val="000000"/>
                </a:solidFill>
                <a:latin typeface="Arial"/>
              </a:rPr>
              <a:t>667–681: the motif that recruits the phosphatase PP2A-B56.</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Domain layout adapted from Bloom &amp; North 2021, PMID 33892776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SCALABILITY (15%) — we scored every BUB1B allele, not this child's two</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Scalability  </a:t>
            </a:r>
            <a:r>
              <a:rPr sz="1400" b="0">
                <a:solidFill>
                  <a:srgbClr val="5C5C5C"/>
                </a:solidFill>
                <a:latin typeface="Arial"/>
              </a:rPr>
              <a:t>15%</a:t>
            </a:r>
          </a:p>
        </p:txBody>
      </p:sp>
      <p:pic>
        <p:nvPicPr>
          <p:cNvPr id="4" name="Picture 3" descr="fig_scoring.png"/>
          <p:cNvPicPr>
            <a:picLocks noChangeAspect="1"/>
          </p:cNvPicPr>
          <p:nvPr/>
        </p:nvPicPr>
        <p:blipFill>
          <a:blip r:embed="rId2"/>
          <a:stretch>
            <a:fillRect/>
          </a:stretch>
        </p:blipFill>
        <p:spPr>
          <a:xfrm>
            <a:off x="1224448" y="1280160"/>
            <a:ext cx="9740055" cy="3977639"/>
          </a:xfrm>
          <a:prstGeom prst="rect">
            <a:avLst/>
          </a:prstGeom>
        </p:spPr>
      </p:pic>
      <p:sp>
        <p:nvSpPr>
          <p:cNvPr id="5" name="TextBox 4"/>
          <p:cNvSpPr txBox="1"/>
          <p:nvPr/>
        </p:nvSpPr>
        <p:spPr>
          <a:xfrm>
            <a:off x="411480" y="5376672"/>
            <a:ext cx="11384280" cy="868680"/>
          </a:xfrm>
          <a:prstGeom prst="rect">
            <a:avLst/>
          </a:prstGeom>
          <a:noFill/>
        </p:spPr>
        <p:txBody>
          <a:bodyPr wrap="square">
            <a:spAutoFit/>
          </a:bodyPr>
          <a:lstStyle/>
          <a:p>
            <a:pPr algn="ctr">
              <a:spcAft>
                <a:spcPts val="600"/>
              </a:spcAft>
            </a:pPr>
            <a:r>
              <a:rPr sz="2000" b="0" i="0">
                <a:solidFill>
                  <a:srgbClr val="000000"/>
                </a:solidFill>
                <a:latin typeface="Arial"/>
              </a:rPr>
              <a:t>Suijkerbuijk reached the same two classes experimentally: truncating alleles lose the transcript, missense alleles are made and turned over.</a:t>
            </a:r>
          </a:p>
        </p:txBody>
      </p:sp>
      <p:sp>
        <p:nvSpPr>
          <p:cNvPr id="6" name="TextBox 5"/>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Q1 — Aurora B LOOSENS grips on purpose. PP2A-B56 SETS them. This child cannot set.</a:t>
            </a:r>
          </a:p>
        </p:txBody>
      </p:sp>
      <p:pic>
        <p:nvPicPr>
          <p:cNvPr id="3" name="Picture 2" descr="pap_kcmt_annot.png"/>
          <p:cNvPicPr>
            <a:picLocks noChangeAspect="1"/>
          </p:cNvPicPr>
          <p:nvPr/>
        </p:nvPicPr>
        <p:blipFill>
          <a:blip r:embed="rId2"/>
          <a:stretch>
            <a:fillRect/>
          </a:stretch>
        </p:blipFill>
        <p:spPr>
          <a:xfrm>
            <a:off x="1261908" y="1024128"/>
            <a:ext cx="3328342" cy="5138928"/>
          </a:xfrm>
          <a:prstGeom prst="rect">
            <a:avLst/>
          </a:prstGeom>
        </p:spPr>
      </p:pic>
      <p:sp>
        <p:nvSpPr>
          <p:cNvPr id="4" name="Rounded Rectangle 3"/>
          <p:cNvSpPr/>
          <p:nvPr/>
        </p:nvSpPr>
        <p:spPr>
          <a:xfrm>
            <a:off x="5715000" y="1097280"/>
            <a:ext cx="6080760" cy="1444752"/>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AURORA B — the loosener</a:t>
            </a:r>
          </a:p>
          <a:p>
            <a:pPr algn="l">
              <a:spcAft>
                <a:spcPts val="600"/>
              </a:spcAft>
            </a:pPr>
            <a:r>
              <a:rPr sz="1800" b="0" i="0">
                <a:solidFill>
                  <a:srgbClr val="000000"/>
                </a:solidFill>
                <a:latin typeface="Arial"/>
              </a:rPr>
              <a:t>Phosphorylates the Hec1 grip. A phosphorylated grip lets go — that is how wrong attachments get broken.</a:t>
            </a:r>
          </a:p>
        </p:txBody>
      </p:sp>
      <p:sp>
        <p:nvSpPr>
          <p:cNvPr id="5" name="Rounded Rectangle 4"/>
          <p:cNvSpPr/>
          <p:nvPr/>
        </p:nvSpPr>
        <p:spPr>
          <a:xfrm>
            <a:off x="5715000" y="2633472"/>
            <a:ext cx="6080760" cy="1444752"/>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PP2A-B56 — the setter</a:t>
            </a:r>
          </a:p>
          <a:p>
            <a:pPr algn="l">
              <a:spcAft>
                <a:spcPts val="600"/>
              </a:spcAft>
            </a:pPr>
            <a:r>
              <a:rPr sz="1800" b="0" i="0">
                <a:solidFill>
                  <a:srgbClr val="000000"/>
                </a:solidFill>
                <a:latin typeface="Arial"/>
              </a:rPr>
              <a:t>Removes those phosphates so a correct grip can set. Both are needed: this is a tug-of-war.</a:t>
            </a:r>
          </a:p>
        </p:txBody>
      </p:sp>
      <p:sp>
        <p:nvSpPr>
          <p:cNvPr id="6" name="Rounded Rectangle 5"/>
          <p:cNvSpPr/>
          <p:nvPr/>
        </p:nvSpPr>
        <p:spPr>
          <a:xfrm>
            <a:off x="5715000" y="4169663"/>
            <a:ext cx="6080760" cy="109728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0" i="0">
                <a:solidFill>
                  <a:srgbClr val="000000"/>
                </a:solidFill>
                <a:latin typeface="Arial"/>
              </a:rPr>
              <a:t>BubR1 carries the eraser. Plk1's 3 phosphates on its KARD are the TICKET PP2A-B56 binds — a different set from Aurora B's, opposite job.</a:t>
            </a:r>
          </a:p>
        </p:txBody>
      </p:sp>
      <p:sp>
        <p:nvSpPr>
          <p:cNvPr id="7" name="Rounded Rectangle 6"/>
          <p:cNvSpPr/>
          <p:nvPr/>
        </p:nvSpPr>
        <p:spPr>
          <a:xfrm>
            <a:off x="5715000" y="5358384"/>
            <a:ext cx="6080760" cy="804672"/>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C0392B"/>
                </a:solidFill>
                <a:latin typeface="Arial"/>
              </a:rPr>
              <a:t>No KARD delivered → no setter arrives → Aurora B is not stronger, it is UNOPPOSED. So we lower it to match.</a:t>
            </a:r>
          </a:p>
        </p:txBody>
      </p:sp>
      <p:sp>
        <p:nvSpPr>
          <p:cNvPr id="8" name="TextBox 7"/>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Adapted from Bloom &amp; North 2021, PMID 33892776, Fig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Q2 — The deficit is reversible: put BubR1 back and the checkpoint recovers</a:t>
            </a:r>
          </a:p>
        </p:txBody>
      </p:sp>
      <p:pic>
        <p:nvPicPr>
          <p:cNvPr id="3" name="Picture 2" descr="pap_rescue.png"/>
          <p:cNvPicPr>
            <a:picLocks noChangeAspect="1"/>
          </p:cNvPicPr>
          <p:nvPr/>
        </p:nvPicPr>
        <p:blipFill>
          <a:blip r:embed="rId2"/>
          <a:stretch>
            <a:fillRect/>
          </a:stretch>
        </p:blipFill>
        <p:spPr>
          <a:xfrm>
            <a:off x="274320" y="1740730"/>
            <a:ext cx="7269479" cy="3696578"/>
          </a:xfrm>
          <a:prstGeom prst="rect">
            <a:avLst/>
          </a:prstGeom>
        </p:spPr>
      </p:pic>
      <p:sp>
        <p:nvSpPr>
          <p:cNvPr id="4" name="Rounded Rectangle 3"/>
          <p:cNvSpPr/>
          <p:nvPr/>
        </p:nvSpPr>
        <p:spPr>
          <a:xfrm>
            <a:off x="7818120" y="1188720"/>
            <a:ext cx="3977639" cy="157276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This child's genotype shape</a:t>
            </a:r>
          </a:p>
          <a:p>
            <a:pPr algn="l">
              <a:spcAft>
                <a:spcPts val="600"/>
              </a:spcAft>
            </a:pPr>
            <a:r>
              <a:rPr sz="1800" b="0" i="0">
                <a:solidFill>
                  <a:srgbClr val="000000"/>
                </a:solidFill>
                <a:latin typeface="Arial"/>
              </a:rPr>
              <a:t>753X/R814H and 731X/Y155C: one truncating allele, one missense — the MVA pattern.</a:t>
            </a:r>
          </a:p>
        </p:txBody>
      </p:sp>
      <p:sp>
        <p:nvSpPr>
          <p:cNvPr id="5" name="Rounded Rectangle 4"/>
          <p:cNvSpPr/>
          <p:nvPr/>
        </p:nvSpPr>
        <p:spPr>
          <a:xfrm>
            <a:off x="7818120" y="2907792"/>
            <a:ext cx="3977639" cy="157276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00B050"/>
                </a:solidFill>
                <a:latin typeface="Arial"/>
              </a:rPr>
              <a:t>2.06x and 2.01x</a:t>
            </a:r>
          </a:p>
          <a:p>
            <a:pPr algn="l">
              <a:spcAft>
                <a:spcPts val="600"/>
              </a:spcAft>
            </a:pPr>
            <a:r>
              <a:rPr sz="1800" b="0" i="0">
                <a:solidFill>
                  <a:srgbClr val="000000"/>
                </a:solidFill>
                <a:latin typeface="Arial"/>
              </a:rPr>
              <a:t>Nocodazole arrest doubles when BubR1 is restored. Healthy controls and the carrier parent do not move.</a:t>
            </a:r>
          </a:p>
        </p:txBody>
      </p:sp>
      <p:sp>
        <p:nvSpPr>
          <p:cNvPr id="6" name="Rounded Rectangle 5"/>
          <p:cNvSpPr/>
          <p:nvPr/>
        </p:nvSpPr>
        <p:spPr>
          <a:xfrm>
            <a:off x="7818120" y="4626864"/>
            <a:ext cx="3977639" cy="149961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But it does not normalise</a:t>
            </a:r>
          </a:p>
          <a:p>
            <a:pPr algn="l">
              <a:spcAft>
                <a:spcPts val="600"/>
              </a:spcAft>
            </a:pPr>
            <a:r>
              <a:rPr sz="1800" b="0" i="0">
                <a:solidFill>
                  <a:srgbClr val="000000"/>
                </a:solidFill>
                <a:latin typeface="Arial"/>
              </a:rPr>
              <a:t>15%→31% and 26%→50% of healthy. And no drug raises BubR1.</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 Fig 1D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SCIENTIFIC RIGOR (35%) — Q3: ten arms, four themes, every one closed on a number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Scientific rigor  </a:t>
            </a:r>
            <a:r>
              <a:rPr sz="1400" b="0">
                <a:solidFill>
                  <a:srgbClr val="5C5C5C"/>
                </a:solidFill>
                <a:latin typeface="Arial"/>
              </a:rPr>
              <a:t>35%</a:t>
            </a:r>
          </a:p>
        </p:txBody>
      </p:sp>
      <p:pic>
        <p:nvPicPr>
          <p:cNvPr id="4" name="Picture 3" descr="fig_themes.png"/>
          <p:cNvPicPr>
            <a:picLocks noChangeAspect="1"/>
          </p:cNvPicPr>
          <p:nvPr/>
        </p:nvPicPr>
        <p:blipFill>
          <a:blip r:embed="rId2"/>
          <a:stretch>
            <a:fillRect/>
          </a:stretch>
        </p:blipFill>
        <p:spPr>
          <a:xfrm>
            <a:off x="320040" y="1464037"/>
            <a:ext cx="5074920" cy="4131093"/>
          </a:xfrm>
          <a:prstGeom prst="rect">
            <a:avLst/>
          </a:prstGeom>
        </p:spPr>
      </p:pic>
      <p:pic>
        <p:nvPicPr>
          <p:cNvPr id="5" name="Picture 4" descr="fig_exposure.png"/>
          <p:cNvPicPr>
            <a:picLocks noChangeAspect="1"/>
          </p:cNvPicPr>
          <p:nvPr/>
        </p:nvPicPr>
        <p:blipFill>
          <a:blip r:embed="rId3"/>
          <a:stretch>
            <a:fillRect/>
          </a:stretch>
        </p:blipFill>
        <p:spPr>
          <a:xfrm>
            <a:off x="5623560" y="1822370"/>
            <a:ext cx="6263640" cy="2298859"/>
          </a:xfrm>
          <a:prstGeom prst="rect">
            <a:avLst/>
          </a:prstGeom>
        </p:spPr>
      </p:pic>
      <p:sp>
        <p:nvSpPr>
          <p:cNvPr id="6" name="TextBox 5"/>
          <p:cNvSpPr txBox="1"/>
          <p:nvPr/>
        </p:nvSpPr>
        <p:spPr>
          <a:xfrm>
            <a:off x="5623560" y="4526280"/>
            <a:ext cx="6263640" cy="1417320"/>
          </a:xfrm>
          <a:prstGeom prst="rect">
            <a:avLst/>
          </a:prstGeom>
          <a:noFill/>
        </p:spPr>
        <p:txBody>
          <a:bodyPr wrap="square">
            <a:spAutoFit/>
          </a:bodyPr>
          <a:lstStyle/>
          <a:p>
            <a:pPr algn="ctr">
              <a:spcAft>
                <a:spcPts val="600"/>
              </a:spcAft>
            </a:pPr>
            <a:r>
              <a:rPr sz="1700" b="0" i="0">
                <a:solidFill>
                  <a:srgbClr val="000000"/>
                </a:solidFill>
                <a:latin typeface="Arial"/>
              </a:rPr>
              <a:t>Two gates closed these arms. EXPOSURE: most needed more drug than a person can be given. SAFETY IN THIS CHILD: proteasome and HSP90 inhibitors are myelosuppressive and carcinogenic, disqualifying where tumour risk already comes from missegregation. Barasertib alone sits ABOVE what the effect needs, by 12x on the most conservative free-drug assumption.</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000" b="1" i="0">
                <a:solidFill>
                  <a:srgbClr val="F79646"/>
                </a:solidFill>
                <a:latin typeface="Arial"/>
              </a:rPr>
              <a:t>Three themes die upstream. One node survives.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INNOVATION (25%) — many engines generate, one human decides, nothing rests on one paper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Innovation  </a:t>
            </a:r>
            <a:r>
              <a:rPr sz="1400" b="0">
                <a:solidFill>
                  <a:srgbClr val="5C5C5C"/>
                </a:solidFill>
                <a:latin typeface="Arial"/>
              </a:rPr>
              <a:t>25%</a:t>
            </a:r>
          </a:p>
        </p:txBody>
      </p:sp>
      <p:pic>
        <p:nvPicPr>
          <p:cNvPr id="4" name="Picture 3" descr="fig_funnel.png"/>
          <p:cNvPicPr>
            <a:picLocks noChangeAspect="1"/>
          </p:cNvPicPr>
          <p:nvPr/>
        </p:nvPicPr>
        <p:blipFill>
          <a:blip r:embed="rId2"/>
          <a:stretch>
            <a:fillRect/>
          </a:stretch>
        </p:blipFill>
        <p:spPr>
          <a:xfrm>
            <a:off x="1481317" y="1115568"/>
            <a:ext cx="9198885" cy="4041648"/>
          </a:xfrm>
          <a:prstGeom prst="rect">
            <a:avLst/>
          </a:prstGeom>
        </p:spPr>
      </p:pic>
      <p:pic>
        <p:nvPicPr>
          <p:cNvPr id="5" name="Picture 4" descr="fig_evidence.png"/>
          <p:cNvPicPr>
            <a:picLocks noChangeAspect="1"/>
          </p:cNvPicPr>
          <p:nvPr/>
        </p:nvPicPr>
        <p:blipFill>
          <a:blip r:embed="rId3"/>
          <a:stretch>
            <a:fillRect/>
          </a:stretch>
        </p:blipFill>
        <p:spPr>
          <a:xfrm>
            <a:off x="2389876" y="5285232"/>
            <a:ext cx="7409199" cy="111556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POTENTIAL IMPACT (25%) — Q4: lower the kinase, because the phosphatase cannot be raised</a:t>
            </a:r>
          </a:p>
        </p:txBody>
      </p:sp>
      <p:pic>
        <p:nvPicPr>
          <p:cNvPr id="3" name="Picture 2" descr="barasertib_hqpa.png"/>
          <p:cNvPicPr>
            <a:picLocks noChangeAspect="1"/>
          </p:cNvPicPr>
          <p:nvPr/>
        </p:nvPicPr>
        <p:blipFill>
          <a:blip r:embed="rId2"/>
          <a:stretch>
            <a:fillRect/>
          </a:stretch>
        </p:blipFill>
        <p:spPr>
          <a:xfrm>
            <a:off x="365759" y="1440533"/>
            <a:ext cx="3291840" cy="1864668"/>
          </a:xfrm>
          <a:prstGeom prst="rect">
            <a:avLst/>
          </a:prstGeom>
        </p:spPr>
      </p:pic>
      <p:sp>
        <p:nvSpPr>
          <p:cNvPr id="4" name="TextBox 3"/>
          <p:cNvSpPr txBox="1"/>
          <p:nvPr/>
        </p:nvSpPr>
        <p:spPr>
          <a:xfrm>
            <a:off x="365760" y="3456432"/>
            <a:ext cx="3291840" cy="384048"/>
          </a:xfrm>
          <a:prstGeom prst="rect">
            <a:avLst/>
          </a:prstGeom>
          <a:noFill/>
        </p:spPr>
        <p:txBody>
          <a:bodyPr wrap="square">
            <a:spAutoFit/>
          </a:bodyPr>
          <a:lstStyle/>
          <a:p>
            <a:pPr algn="ctr">
              <a:spcAft>
                <a:spcPts val="600"/>
              </a:spcAft>
            </a:pPr>
            <a:r>
              <a:rPr sz="1400" b="0" i="0">
                <a:solidFill>
                  <a:srgbClr val="5C5C5C"/>
                </a:solidFill>
                <a:latin typeface="Arial"/>
              </a:rPr>
              <a:t>AZD2811-NP — nanoparticle-encapsulated AZD2811,
formerly barasertib-hQPA</a:t>
            </a:r>
          </a:p>
        </p:txBody>
      </p:sp>
      <p:pic>
        <p:nvPicPr>
          <p:cNvPr id="5" name="Picture 4" descr="pap_kard_surface.png"/>
          <p:cNvPicPr>
            <a:picLocks noChangeAspect="1"/>
          </p:cNvPicPr>
          <p:nvPr/>
        </p:nvPicPr>
        <p:blipFill>
          <a:blip r:embed="rId3"/>
          <a:stretch>
            <a:fillRect/>
          </a:stretch>
        </p:blipFill>
        <p:spPr>
          <a:xfrm>
            <a:off x="784276" y="3895344"/>
            <a:ext cx="2454806" cy="1417320"/>
          </a:xfrm>
          <a:prstGeom prst="rect">
            <a:avLst/>
          </a:prstGeom>
        </p:spPr>
      </p:pic>
      <p:sp>
        <p:nvSpPr>
          <p:cNvPr id="6" name="TextBox 5"/>
          <p:cNvSpPr txBox="1"/>
          <p:nvPr/>
        </p:nvSpPr>
        <p:spPr>
          <a:xfrm>
            <a:off x="365760" y="5358384"/>
            <a:ext cx="3291840" cy="731520"/>
          </a:xfrm>
          <a:prstGeom prst="rect">
            <a:avLst/>
          </a:prstGeom>
          <a:noFill/>
        </p:spPr>
        <p:txBody>
          <a:bodyPr wrap="square">
            <a:spAutoFit/>
          </a:bodyPr>
          <a:lstStyle/>
          <a:p>
            <a:pPr algn="ctr">
              <a:spcAft>
                <a:spcPts val="600"/>
              </a:spcAft>
            </a:pPr>
            <a:r>
              <a:rPr sz="1300" b="0" i="0">
                <a:solidFill>
                  <a:srgbClr val="5C5C5C"/>
                </a:solidFill>
                <a:latin typeface="Arial"/>
              </a:rPr>
              <a:t>PP2A-B56 with the BubR1 KARD bound — the groove neither allele reaches</a:t>
            </a:r>
          </a:p>
        </p:txBody>
      </p:sp>
      <p:sp>
        <p:nvSpPr>
          <p:cNvPr id="7" name="Rounded Rectangle 6"/>
          <p:cNvSpPr/>
          <p:nvPr/>
        </p:nvSpPr>
        <p:spPr>
          <a:xfrm>
            <a:off x="3977639" y="987552"/>
            <a:ext cx="7818120" cy="56692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00B050"/>
                </a:solidFill>
                <a:latin typeface="Arial"/>
              </a:rPr>
              <a:t>OUR PICK   </a:t>
            </a:r>
            <a:r>
              <a:rPr sz="1800" b="0">
                <a:solidFill>
                  <a:srgbClr val="000000"/>
                </a:solidFill>
                <a:latin typeface="Arial"/>
              </a:rPr>
              <a:t>AZD2811-NP — AstraZeneca, in Phase II now</a:t>
            </a:r>
          </a:p>
        </p:txBody>
      </p:sp>
      <p:sp>
        <p:nvSpPr>
          <p:cNvPr id="8" name="Rounded Rectangle 7"/>
          <p:cNvSpPr/>
          <p:nvPr/>
        </p:nvSpPr>
        <p:spPr>
          <a:xfrm>
            <a:off x="3977639" y="1618488"/>
            <a:ext cx="7818120" cy="566928"/>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F79646"/>
                </a:solidFill>
                <a:latin typeface="Arial"/>
              </a:rPr>
              <a:t>Built to do   </a:t>
            </a:r>
            <a:r>
              <a:rPr sz="1800" b="0">
                <a:solidFill>
                  <a:srgbClr val="000000"/>
                </a:solidFill>
                <a:latin typeface="Arial"/>
              </a:rPr>
              <a:t>KILL dividing cells — SCLC, AML, lymphoma</a:t>
            </a:r>
          </a:p>
        </p:txBody>
      </p:sp>
      <p:sp>
        <p:nvSpPr>
          <p:cNvPr id="9" name="Rounded Rectangle 8"/>
          <p:cNvSpPr/>
          <p:nvPr/>
        </p:nvSpPr>
        <p:spPr>
          <a:xfrm>
            <a:off x="3977639" y="2249424"/>
            <a:ext cx="7818120" cy="566928"/>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C0392B"/>
                </a:solidFill>
                <a:latin typeface="Arial"/>
              </a:rPr>
              <a:t>Status   </a:t>
            </a:r>
            <a:r>
              <a:rPr sz="1800" b="0">
                <a:solidFill>
                  <a:srgbClr val="000000"/>
                </a:solidFill>
                <a:latin typeface="Arial"/>
              </a:rPr>
              <a:t>Phase I/II. Never approved. Not withdrawn for safety.</a:t>
            </a:r>
          </a:p>
        </p:txBody>
      </p:sp>
      <p:sp>
        <p:nvSpPr>
          <p:cNvPr id="10" name="Rounded Rectangle 9"/>
          <p:cNvSpPr/>
          <p:nvPr/>
        </p:nvSpPr>
        <p:spPr>
          <a:xfrm>
            <a:off x="3977639" y="2880360"/>
            <a:ext cx="7818120" cy="566928"/>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C0392B"/>
                </a:solidFill>
                <a:latin typeface="Arial"/>
              </a:rPr>
              <a:t>Dose-limiting tox   </a:t>
            </a:r>
            <a:r>
              <a:rPr sz="1800" b="0">
                <a:solidFill>
                  <a:srgbClr val="000000"/>
                </a:solidFill>
                <a:latin typeface="Arial"/>
              </a:rPr>
              <a:t>neutropenia, from ABLATING Aurora B in marrow</a:t>
            </a:r>
          </a:p>
        </p:txBody>
      </p:sp>
      <p:sp>
        <p:nvSpPr>
          <p:cNvPr id="11" name="Rounded Rectangle 10"/>
          <p:cNvSpPr/>
          <p:nvPr/>
        </p:nvSpPr>
        <p:spPr>
          <a:xfrm>
            <a:off x="3977639" y="3511296"/>
            <a:ext cx="7818120" cy="56692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00B050"/>
                </a:solidFill>
                <a:latin typeface="Arial"/>
              </a:rPr>
              <a:t>Why the NP, not the prodrug   </a:t>
            </a:r>
            <a:r>
              <a:rPr sz="1800" b="0">
                <a:solidFill>
                  <a:srgbClr val="000000"/>
                </a:solidFill>
                <a:latin typeface="Arial"/>
              </a:rPr>
              <a:t>2-h infusion not 7-day; the live asset, so a real supply route</a:t>
            </a:r>
          </a:p>
        </p:txBody>
      </p:sp>
      <p:sp>
        <p:nvSpPr>
          <p:cNvPr id="12" name="Rounded Rectangle 11"/>
          <p:cNvSpPr/>
          <p:nvPr/>
        </p:nvSpPr>
        <p:spPr>
          <a:xfrm>
            <a:off x="3977639" y="4187952"/>
            <a:ext cx="7818120" cy="78638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00B050"/>
                </a:solidFill>
                <a:latin typeface="Arial"/>
              </a:rPr>
              <a:t>That toxicity is the ARGUMENT, not the obstacle</a:t>
            </a:r>
          </a:p>
          <a:p>
            <a:pPr algn="ctr">
              <a:spcAft>
                <a:spcPts val="600"/>
              </a:spcAft>
            </a:pPr>
            <a:r>
              <a:rPr sz="1700" b="0" i="0">
                <a:solidFill>
                  <a:srgbClr val="000000"/>
                </a:solidFill>
                <a:latin typeface="Arial"/>
              </a:rPr>
              <a:t>Neutropenia comes from ABLATING Aurora B at oncology exposure. We want 30-50% engagement, not ablation.</a:t>
            </a:r>
          </a:p>
        </p:txBody>
      </p:sp>
      <p:sp>
        <p:nvSpPr>
          <p:cNvPr id="13" name="Rounded Rectangle 12"/>
          <p:cNvSpPr/>
          <p:nvPr/>
        </p:nvSpPr>
        <p:spPr>
          <a:xfrm>
            <a:off x="3977639" y="5047488"/>
            <a:ext cx="7818120" cy="585216"/>
          </a:xfrm>
          <a:prstGeom prst="roundRect">
            <a:avLst>
              <a:gd name="adj" fmla="val 7000"/>
            </a:avLst>
          </a:prstGeom>
          <a:solidFill>
            <a:srgbClr val="F2F6FB"/>
          </a:solidFill>
          <a:ln w="1905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500" b="0" i="0">
                <a:solidFill>
                  <a:srgbClr val="000000"/>
                </a:solidFill>
                <a:latin typeface="Arial"/>
              </a:rPr>
              <a:t>Alisertib? Oral, given to 139 children (COG ADVL0921) — but it targets Aurora A, the wrong kinase. Design caveat we own: the NP releases over days, so dose-finding must allow for slow off-rate.</a:t>
            </a:r>
          </a:p>
        </p:txBody>
      </p:sp>
      <p:sp>
        <p:nvSpPr>
          <p:cNvPr id="14" name="Rounded Rectangle 13"/>
          <p:cNvSpPr/>
          <p:nvPr/>
        </p:nvSpPr>
        <p:spPr>
          <a:xfrm>
            <a:off x="3977639" y="5687568"/>
            <a:ext cx="2514600" cy="7315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4F81BD"/>
                </a:solidFill>
                <a:latin typeface="Arial"/>
              </a:rPr>
              <a:t>0.37 nM</a:t>
            </a:r>
          </a:p>
          <a:p>
            <a:pPr algn="ctr">
              <a:spcAft>
                <a:spcPts val="600"/>
              </a:spcAft>
            </a:pPr>
            <a:r>
              <a:rPr sz="1400" b="0" i="0">
                <a:solidFill>
                  <a:srgbClr val="000000"/>
                </a:solidFill>
                <a:latin typeface="Arial"/>
              </a:rPr>
              <a:t>Aurora B IC50</a:t>
            </a:r>
          </a:p>
        </p:txBody>
      </p:sp>
      <p:sp>
        <p:nvSpPr>
          <p:cNvPr id="15" name="Rounded Rectangle 14"/>
          <p:cNvSpPr/>
          <p:nvPr/>
        </p:nvSpPr>
        <p:spPr>
          <a:xfrm>
            <a:off x="6629400" y="5687568"/>
            <a:ext cx="2514600" cy="7315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4F81BD"/>
                </a:solidFill>
                <a:latin typeface="Arial"/>
              </a:rPr>
              <a:t>3,700x</a:t>
            </a:r>
          </a:p>
          <a:p>
            <a:pPr algn="ctr">
              <a:spcAft>
                <a:spcPts val="600"/>
              </a:spcAft>
            </a:pPr>
            <a:r>
              <a:rPr sz="1400" b="0" i="0">
                <a:solidFill>
                  <a:srgbClr val="000000"/>
                </a:solidFill>
                <a:latin typeface="Arial"/>
              </a:rPr>
              <a:t>over Aurora A</a:t>
            </a:r>
          </a:p>
        </p:txBody>
      </p:sp>
      <p:sp>
        <p:nvSpPr>
          <p:cNvPr id="16" name="Rounded Rectangle 15"/>
          <p:cNvSpPr/>
          <p:nvPr/>
        </p:nvSpPr>
        <p:spPr>
          <a:xfrm>
            <a:off x="9281160" y="5687568"/>
            <a:ext cx="2514600" cy="7315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00B050"/>
                </a:solidFill>
                <a:latin typeface="Arial"/>
              </a:rPr>
              <a:t>&lt;100 mg</a:t>
            </a:r>
          </a:p>
          <a:p>
            <a:pPr algn="ctr">
              <a:spcAft>
                <a:spcPts val="600"/>
              </a:spcAft>
            </a:pPr>
            <a:r>
              <a:rPr sz="1400" b="0" i="0">
                <a:solidFill>
                  <a:srgbClr val="000000"/>
                </a:solidFill>
                <a:latin typeface="Arial"/>
              </a:rPr>
              <a:t>our proposed dose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dose, anchored on human data: BELOW the dose that first touches marrow</a:t>
            </a:r>
          </a:p>
        </p:txBody>
      </p:sp>
      <p:pic>
        <p:nvPicPr>
          <p:cNvPr id="3" name="Picture 2" descr="fig_window.png"/>
          <p:cNvPicPr>
            <a:picLocks noChangeAspect="1"/>
          </p:cNvPicPr>
          <p:nvPr/>
        </p:nvPicPr>
        <p:blipFill>
          <a:blip r:embed="rId2"/>
          <a:stretch>
            <a:fillRect/>
          </a:stretch>
        </p:blipFill>
        <p:spPr>
          <a:xfrm>
            <a:off x="320040" y="1070508"/>
            <a:ext cx="6035039" cy="3610558"/>
          </a:xfrm>
          <a:prstGeom prst="rect">
            <a:avLst/>
          </a:prstGeom>
        </p:spPr>
      </p:pic>
      <p:sp>
        <p:nvSpPr>
          <p:cNvPr id="4" name="Rounded Rectangle 3"/>
          <p:cNvSpPr/>
          <p:nvPr/>
        </p:nvSpPr>
        <p:spPr>
          <a:xfrm>
            <a:off x="320040" y="4846320"/>
            <a:ext cx="6035040" cy="129844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4F81BD"/>
                </a:solidFill>
                <a:latin typeface="Arial"/>
              </a:rPr>
              <a:t>AZD2811 phase I mapped this in humans</a:t>
            </a:r>
          </a:p>
          <a:p>
            <a:pPr algn="l">
              <a:spcAft>
                <a:spcPts val="600"/>
              </a:spcAft>
            </a:pPr>
            <a:r>
              <a:rPr sz="1700" b="0" i="0">
                <a:solidFill>
                  <a:srgbClr val="000000"/>
                </a:solidFill>
                <a:latin typeface="Arial"/>
              </a:rPr>
              <a:t>51 patients, 15-600 mg. Neutropenia is the ON-TARGET marker of Aurora B engagement — and it is the toxicity we must avoid.</a:t>
            </a:r>
          </a:p>
        </p:txBody>
      </p:sp>
      <p:sp>
        <p:nvSpPr>
          <p:cNvPr id="5" name="Rounded Rectangle 4"/>
          <p:cNvSpPr/>
          <p:nvPr/>
        </p:nvSpPr>
        <p:spPr>
          <a:xfrm>
            <a:off x="6675120" y="1097280"/>
            <a:ext cx="5120640" cy="1225296"/>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C0392B"/>
                </a:solidFill>
                <a:latin typeface="Arial"/>
              </a:rPr>
              <a:t>500 mg</a:t>
            </a:r>
          </a:p>
          <a:p>
            <a:pPr algn="ctr">
              <a:spcAft>
                <a:spcPts val="600"/>
              </a:spcAft>
            </a:pPr>
            <a:r>
              <a:rPr sz="1600" b="0" i="0">
                <a:solidFill>
                  <a:srgbClr val="000000"/>
                </a:solidFill>
                <a:latin typeface="Arial"/>
              </a:rPr>
              <a:t>oncology RP2D, q21d
+ mandatory G-CSF</a:t>
            </a:r>
          </a:p>
        </p:txBody>
      </p:sp>
      <p:sp>
        <p:nvSpPr>
          <p:cNvPr id="6" name="Rounded Rectangle 5"/>
          <p:cNvSpPr/>
          <p:nvPr/>
        </p:nvSpPr>
        <p:spPr>
          <a:xfrm>
            <a:off x="6675120" y="2432304"/>
            <a:ext cx="5120640" cy="122529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F79646"/>
                </a:solidFill>
                <a:latin typeface="Arial"/>
              </a:rPr>
              <a:t>200 mg</a:t>
            </a:r>
          </a:p>
          <a:p>
            <a:pPr algn="ctr">
              <a:spcAft>
                <a:spcPts val="600"/>
              </a:spcAft>
            </a:pPr>
            <a:r>
              <a:rPr sz="1600" b="0" i="0">
                <a:solidFill>
                  <a:srgbClr val="000000"/>
                </a:solidFill>
                <a:latin typeface="Arial"/>
              </a:rPr>
              <a:t>where marrow pharmacology
FIRST appears</a:t>
            </a:r>
          </a:p>
        </p:txBody>
      </p:sp>
      <p:sp>
        <p:nvSpPr>
          <p:cNvPr id="7" name="Rounded Rectangle 6"/>
          <p:cNvSpPr/>
          <p:nvPr/>
        </p:nvSpPr>
        <p:spPr>
          <a:xfrm>
            <a:off x="6675120" y="3767328"/>
            <a:ext cx="5120640" cy="1225296"/>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00B050"/>
                </a:solidFill>
                <a:latin typeface="Arial"/>
              </a:rPr>
              <a:t>≤100 mg</a:t>
            </a:r>
          </a:p>
          <a:p>
            <a:pPr algn="ctr">
              <a:spcAft>
                <a:spcPts val="600"/>
              </a:spcAft>
            </a:pPr>
            <a:r>
              <a:rPr sz="1600" b="0" i="0">
                <a:solidFill>
                  <a:srgbClr val="000000"/>
                </a:solidFill>
                <a:latin typeface="Arial"/>
              </a:rPr>
              <a:t>cohorts 1-5: NO neutropenia,
NO dose-limiting toxicity</a:t>
            </a:r>
          </a:p>
        </p:txBody>
      </p:sp>
      <p:sp>
        <p:nvSpPr>
          <p:cNvPr id="8" name="Rounded Rectangle 7"/>
          <p:cNvSpPr/>
          <p:nvPr/>
        </p:nvSpPr>
        <p:spPr>
          <a:xfrm>
            <a:off x="6675120" y="5102352"/>
            <a:ext cx="512064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00B050"/>
                </a:solidFill>
                <a:latin typeface="Arial"/>
              </a:rPr>
              <a:t>We propose BELOW 100 mg/cycle</a:t>
            </a:r>
          </a:p>
          <a:p>
            <a:pPr algn="ctr">
              <a:spcAft>
                <a:spcPts val="600"/>
              </a:spcAft>
            </a:pPr>
            <a:r>
              <a:rPr sz="1600" b="0" i="0">
                <a:solidFill>
                  <a:srgbClr val="000000"/>
                </a:solidFill>
                <a:latin typeface="Arial"/>
              </a:rPr>
              <a:t>a 5x reduction, in the SAME formulation, titrated on phospho-Hec1</a:t>
            </a:r>
          </a:p>
        </p:txBody>
      </p:sp>
      <p:sp>
        <p:nvSpPr>
          <p:cNvPr id="9" name="TextBox 8"/>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Falchook 2023, Br J Cancer, PMID 36871042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moonshot: programmable translation, on the message the patient already has</a:t>
            </a:r>
          </a:p>
        </p:txBody>
      </p:sp>
      <p:pic>
        <p:nvPicPr>
          <p:cNvPr id="3" name="Picture 2" descr="pap_trna.png"/>
          <p:cNvPicPr>
            <a:picLocks noChangeAspect="1"/>
          </p:cNvPicPr>
          <p:nvPr/>
        </p:nvPicPr>
        <p:blipFill>
          <a:blip r:embed="rId2"/>
          <a:stretch>
            <a:fillRect/>
          </a:stretch>
        </p:blipFill>
        <p:spPr>
          <a:xfrm>
            <a:off x="2193888" y="1051560"/>
            <a:ext cx="7801174" cy="2788920"/>
          </a:xfrm>
          <a:prstGeom prst="rect">
            <a:avLst/>
          </a:prstGeom>
        </p:spPr>
      </p:pic>
      <p:sp>
        <p:nvSpPr>
          <p:cNvPr id="4" name="Rounded Rectangle 3"/>
          <p:cNvSpPr/>
          <p:nvPr/>
        </p:nvSpPr>
        <p:spPr>
          <a:xfrm>
            <a:off x="411480" y="4023360"/>
            <a:ext cx="3703320" cy="21031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What it does</a:t>
            </a:r>
          </a:p>
          <a:p>
            <a:pPr algn="l">
              <a:spcAft>
                <a:spcPts val="600"/>
              </a:spcAft>
            </a:pPr>
            <a:r>
              <a:rPr sz="1800" b="0" i="0">
                <a:solidFill>
                  <a:srgbClr val="000000"/>
                </a:solidFill>
                <a:latin typeface="Arial"/>
              </a:rPr>
              <a:t>A separate capped RNA (orange) base-pairs with the target mRNA (blue). The ribosome loads from the trans-cap and is handed to a start codon of our choosing.</a:t>
            </a:r>
          </a:p>
        </p:txBody>
      </p:sp>
      <p:sp>
        <p:nvSpPr>
          <p:cNvPr id="5" name="Rounded Rectangle 4"/>
          <p:cNvSpPr/>
          <p:nvPr/>
        </p:nvSpPr>
        <p:spPr>
          <a:xfrm>
            <a:off x="4334256" y="4023360"/>
            <a:ext cx="3703320" cy="21031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Why it reaches this child</a:t>
            </a:r>
          </a:p>
          <a:p>
            <a:pPr algn="l">
              <a:spcAft>
                <a:spcPts val="600"/>
              </a:spcAft>
            </a:pPr>
            <a:r>
              <a:rPr sz="1800" b="0" i="0">
                <a:solidFill>
                  <a:srgbClr val="000000"/>
                </a:solidFill>
                <a:latin typeface="Arial"/>
              </a:rPr>
              <a:t>Allele 1's transcript is gone, so nothing can rescue it. But allele 2's message IS present — raising its output is a genome-free way to restore the dose.</a:t>
            </a:r>
          </a:p>
        </p:txBody>
      </p:sp>
      <p:sp>
        <p:nvSpPr>
          <p:cNvPr id="6" name="Rounded Rectangle 5"/>
          <p:cNvSpPr/>
          <p:nvPr/>
        </p:nvSpPr>
        <p:spPr>
          <a:xfrm>
            <a:off x="8257031" y="4023360"/>
            <a:ext cx="3520440" cy="21031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Why it deserves funding</a:t>
            </a:r>
          </a:p>
          <a:p>
            <a:pPr algn="l">
              <a:spcAft>
                <a:spcPts val="600"/>
              </a:spcAft>
            </a:pPr>
            <a:r>
              <a:rPr sz="1800" b="0" i="0">
                <a:solidFill>
                  <a:srgbClr val="000000"/>
                </a:solidFill>
                <a:latin typeface="Arial"/>
              </a:rPr>
              <a:t>One mechanism, no edit, and dosage disease is a whole class. Delivery is the unsolved half: liver and muscle today, brain and marrow not yet.</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Jia et al., Nat Biotechnol 2025, Fig 1a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What we answered, and the one prediction we commit to</a:t>
            </a:r>
          </a:p>
        </p:txBody>
      </p:sp>
      <p:sp>
        <p:nvSpPr>
          <p:cNvPr id="3" name="Rounded Rectangle 2"/>
          <p:cNvSpPr/>
          <p:nvPr/>
        </p:nvSpPr>
        <p:spPr>
          <a:xfrm>
            <a:off x="411480" y="1188720"/>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Q1  What do the alleles leave?    </a:t>
            </a:r>
            <a:r>
              <a:rPr sz="2000" b="0">
                <a:solidFill>
                  <a:srgbClr val="000000"/>
                </a:solidFill>
                <a:latin typeface="Arial"/>
              </a:rPr>
              <a:t>No transcript, and an unstable protein. Both lose the KARD's function.</a:t>
            </a:r>
          </a:p>
        </p:txBody>
      </p:sp>
      <p:sp>
        <p:nvSpPr>
          <p:cNvPr id="4" name="Rounded Rectangle 3"/>
          <p:cNvSpPr/>
          <p:nvPr/>
        </p:nvSpPr>
        <p:spPr>
          <a:xfrm>
            <a:off x="411480" y="2258568"/>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Q2  Is it reversible?    </a:t>
            </a:r>
            <a:r>
              <a:rPr sz="2000" b="0">
                <a:solidFill>
                  <a:srgbClr val="000000"/>
                </a:solidFill>
                <a:latin typeface="Arial"/>
              </a:rPr>
              <a:t>Yes — restoring BubR1 doubles checkpoint arrest in patient cells.</a:t>
            </a:r>
          </a:p>
        </p:txBody>
      </p:sp>
      <p:sp>
        <p:nvSpPr>
          <p:cNvPr id="5" name="Rounded Rectangle 4"/>
          <p:cNvSpPr/>
          <p:nvPr/>
        </p:nvSpPr>
        <p:spPr>
          <a:xfrm>
            <a:off x="411480" y="3328415"/>
            <a:ext cx="11384280" cy="96926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F79646"/>
                </a:solidFill>
                <a:latin typeface="Arial"/>
              </a:rPr>
              <a:t>Q3  Can a drug raise BubR1?    </a:t>
            </a:r>
            <a:r>
              <a:rPr sz="2000" b="0">
                <a:solidFill>
                  <a:srgbClr val="000000"/>
                </a:solidFill>
                <a:latin typeface="Arial"/>
              </a:rPr>
              <a:t>No. Zero compounds across 107,407 curated pairs, and no PP2A activator.</a:t>
            </a:r>
          </a:p>
        </p:txBody>
      </p:sp>
      <p:sp>
        <p:nvSpPr>
          <p:cNvPr id="6" name="Rounded Rectangle 5"/>
          <p:cNvSpPr/>
          <p:nvPr/>
        </p:nvSpPr>
        <p:spPr>
          <a:xfrm>
            <a:off x="411480" y="4398264"/>
            <a:ext cx="11384280" cy="96926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00B050"/>
                </a:solidFill>
                <a:latin typeface="Arial"/>
              </a:rPr>
              <a:t>Q4  What else sits on the node?    </a:t>
            </a:r>
            <a:r>
              <a:rPr sz="2000" b="0">
                <a:solidFill>
                  <a:srgbClr val="000000"/>
                </a:solidFill>
                <a:latin typeface="Arial"/>
              </a:rPr>
              <a:t>Aurora B — the one target where human exposure runs in our favour.</a:t>
            </a:r>
          </a:p>
        </p:txBody>
      </p:sp>
      <p:sp>
        <p:nvSpPr>
          <p:cNvPr id="7" name="Rounded Rectangle 6"/>
          <p:cNvSpPr/>
          <p:nvPr/>
        </p:nvSpPr>
        <p:spPr>
          <a:xfrm>
            <a:off x="411480" y="5504688"/>
            <a:ext cx="1138428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2100" b="1" i="0">
                <a:solidFill>
                  <a:srgbClr val="00B050"/>
                </a:solidFill>
                <a:latin typeface="Arial"/>
              </a:rPr>
              <a:t>The prediction: partial Aurora B inhibition rescues congression in this child's cells BEFORE it costs checkpoint competence. If it does not, we are wrong.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