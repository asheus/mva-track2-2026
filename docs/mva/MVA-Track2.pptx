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966222" y="1097280"/>
            <a:ext cx="3233915" cy="5029200"/>
          </a:xfrm>
          <a:prstGeom prst="rect">
            <a:avLst/>
          </a:prstGeom>
        </p:spPr>
      </p:pic>
      <p:sp>
        <p:nvSpPr>
          <p:cNvPr id="4" name="Rounded Rectangle 3"/>
          <p:cNvSpPr/>
          <p:nvPr/>
        </p:nvSpPr>
        <p:spPr>
          <a:xfrm>
            <a:off x="5074920" y="1152144"/>
            <a:ext cx="6720840" cy="151790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It phosphorylates the GRIP (Hec1) holding a chromosome to a microtubule. A phosphorylated grip lets go. That is how wrong attachments get broken.</a:t>
            </a:r>
          </a:p>
        </p:txBody>
      </p:sp>
      <p:sp>
        <p:nvSpPr>
          <p:cNvPr id="5" name="Rounded Rectangle 4"/>
          <p:cNvSpPr/>
          <p:nvPr/>
        </p:nvSpPr>
        <p:spPr>
          <a:xfrm>
            <a:off x="5074920" y="2761488"/>
            <a:ext cx="6720840" cy="151790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It removes those phosphates so a correct grip can set. Error correction is these two in a tug-of-war, and both are needed.</a:t>
            </a:r>
          </a:p>
        </p:txBody>
      </p:sp>
      <p:sp>
        <p:nvSpPr>
          <p:cNvPr id="6" name="Rounded Rectangle 5"/>
          <p:cNvSpPr/>
          <p:nvPr/>
        </p:nvSpPr>
        <p:spPr>
          <a:xfrm>
            <a:off x="5074920" y="4370832"/>
            <a:ext cx="6720840" cy="950976"/>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is the TAXI, not an enzyme. Plk1 puts 3 phosphates in its KARD (shown left, on BubR1): that is the TICKET PP2A-B56 binds. Different phosphates, opposite job to Aurora B's.</a:t>
            </a:r>
          </a:p>
        </p:txBody>
      </p:sp>
      <p:sp>
        <p:nvSpPr>
          <p:cNvPr id="7" name="Rounded Rectangle 6"/>
          <p:cNvSpPr/>
          <p:nvPr/>
        </p:nvSpPr>
        <p:spPr>
          <a:xfrm>
            <a:off x="5074920" y="5413248"/>
            <a:ext cx="6720840" cy="71323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Fig 2 detail; Aurora B added by 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Potential impact  </a:t>
            </a:r>
            <a:r>
              <a:rPr sz="1400" b="0">
                <a:solidFill>
                  <a:srgbClr val="5C5C5C"/>
                </a:solidFill>
                <a:latin typeface="Arial"/>
              </a:rPr>
              <a:t>25%</a:t>
            </a:r>
          </a:p>
        </p:txBody>
      </p:sp>
      <p:pic>
        <p:nvPicPr>
          <p:cNvPr id="4" name="Picture 3" descr="barasertib_hqpa.png"/>
          <p:cNvPicPr>
            <a:picLocks noChangeAspect="1"/>
          </p:cNvPicPr>
          <p:nvPr/>
        </p:nvPicPr>
        <p:blipFill>
          <a:blip r:embed="rId2"/>
          <a:stretch>
            <a:fillRect/>
          </a:stretch>
        </p:blipFill>
        <p:spPr>
          <a:xfrm>
            <a:off x="411480" y="1778891"/>
            <a:ext cx="3566160" cy="2020057"/>
          </a:xfrm>
          <a:prstGeom prst="rect">
            <a:avLst/>
          </a:prstGeom>
        </p:spPr>
      </p:pic>
      <p:sp>
        <p:nvSpPr>
          <p:cNvPr id="5" name="TextBox 4"/>
          <p:cNvSpPr txBox="1"/>
          <p:nvPr/>
        </p:nvSpPr>
        <p:spPr>
          <a:xfrm>
            <a:off x="411480" y="4069080"/>
            <a:ext cx="3566160" cy="411480"/>
          </a:xfrm>
          <a:prstGeom prst="rect">
            <a:avLst/>
          </a:prstGeom>
          <a:noFill/>
        </p:spPr>
        <p:txBody>
          <a:bodyPr wrap="square">
            <a:spAutoFit/>
          </a:bodyPr>
          <a:lstStyle/>
          <a:p>
            <a:pPr algn="ctr">
              <a:spcAft>
                <a:spcPts val="600"/>
              </a:spcAft>
            </a:pPr>
            <a:r>
              <a:rPr sz="1700" b="0" i="0">
                <a:solidFill>
                  <a:srgbClr val="5C5C5C"/>
                </a:solidFill>
                <a:latin typeface="Arial"/>
              </a:rPr>
              <a:t>barasertib-hQPA</a:t>
            </a:r>
          </a:p>
        </p:txBody>
      </p:sp>
      <p:pic>
        <p:nvPicPr>
          <p:cNvPr id="6" name="Picture 5" descr="pap_kard_surface.png"/>
          <p:cNvPicPr>
            <a:picLocks noChangeAspect="1"/>
          </p:cNvPicPr>
          <p:nvPr/>
        </p:nvPicPr>
        <p:blipFill>
          <a:blip r:embed="rId3"/>
          <a:stretch>
            <a:fillRect/>
          </a:stretch>
        </p:blipFill>
        <p:spPr>
          <a:xfrm>
            <a:off x="808781" y="4526280"/>
            <a:ext cx="2771556" cy="1600200"/>
          </a:xfrm>
          <a:prstGeom prst="rect">
            <a:avLst/>
          </a:prstGeom>
        </p:spPr>
      </p:pic>
      <p:sp>
        <p:nvSpPr>
          <p:cNvPr id="7" name="TextBox 6"/>
          <p:cNvSpPr txBox="1"/>
          <p:nvPr/>
        </p:nvSpPr>
        <p:spPr>
          <a:xfrm>
            <a:off x="411480" y="6144768"/>
            <a:ext cx="3566160" cy="365760"/>
          </a:xfrm>
          <a:prstGeom prst="rect">
            <a:avLst/>
          </a:prstGeom>
          <a:noFill/>
        </p:spPr>
        <p:txBody>
          <a:bodyPr wrap="square">
            <a:spAutoFit/>
          </a:bodyPr>
          <a:lstStyle/>
          <a:p>
            <a:pPr algn="ctr">
              <a:spcAft>
                <a:spcPts val="600"/>
              </a:spcAft>
            </a:pPr>
            <a:r>
              <a:rPr sz="1300" b="0" i="0">
                <a:solidFill>
                  <a:srgbClr val="5C5C5C"/>
                </a:solidFill>
                <a:latin typeface="Arial"/>
              </a:rPr>
              <a:t>the groove neither allele reaches</a:t>
            </a:r>
          </a:p>
        </p:txBody>
      </p:sp>
      <p:sp>
        <p:nvSpPr>
          <p:cNvPr id="8" name="Rounded Rectangle 7"/>
          <p:cNvSpPr/>
          <p:nvPr/>
        </p:nvSpPr>
        <p:spPr>
          <a:xfrm>
            <a:off x="4251960" y="1371600"/>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0.37 nM   </a:t>
            </a:r>
            <a:r>
              <a:rPr sz="2000" b="0">
                <a:solidFill>
                  <a:srgbClr val="000000"/>
                </a:solidFill>
                <a:latin typeface="Arial"/>
              </a:rPr>
              <a:t>BIOCHEMICAL Aurora B IC50, not the cellular rescue concentration</a:t>
            </a:r>
          </a:p>
        </p:txBody>
      </p:sp>
      <p:sp>
        <p:nvSpPr>
          <p:cNvPr id="9" name="Rounded Rectangle 8"/>
          <p:cNvSpPr/>
          <p:nvPr/>
        </p:nvSpPr>
        <p:spPr>
          <a:xfrm>
            <a:off x="4251960" y="2523744"/>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~3,700x   </a:t>
            </a:r>
            <a:r>
              <a:rPr sz="2000" b="0">
                <a:solidFill>
                  <a:srgbClr val="000000"/>
                </a:solidFill>
                <a:latin typeface="Arial"/>
              </a:rPr>
              <a:t>selective over Aurora A</a:t>
            </a:r>
          </a:p>
        </p:txBody>
      </p:sp>
      <p:sp>
        <p:nvSpPr>
          <p:cNvPr id="10" name="Rounded Rectangle 9"/>
          <p:cNvSpPr/>
          <p:nvPr/>
        </p:nvSpPr>
        <p:spPr>
          <a:xfrm>
            <a:off x="4251960" y="3675887"/>
            <a:ext cx="7543800" cy="1042415"/>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4F81BD"/>
                </a:solidFill>
                <a:latin typeface="Arial"/>
              </a:rPr>
              <a:t>447 nM   </a:t>
            </a:r>
            <a:r>
              <a:rPr sz="2000" b="0">
                <a:solidFill>
                  <a:srgbClr val="000000"/>
                </a:solidFill>
                <a:latin typeface="Arial"/>
              </a:rPr>
              <a:t>adult steady-state Css, TOTAL drug (Dennis 2012)</a:t>
            </a:r>
          </a:p>
        </p:txBody>
      </p:sp>
      <p:sp>
        <p:nvSpPr>
          <p:cNvPr id="11" name="Rounded Rectangle 10"/>
          <p:cNvSpPr/>
          <p:nvPr/>
        </p:nvSpPr>
        <p:spPr>
          <a:xfrm>
            <a:off x="4251960" y="4828031"/>
            <a:ext cx="754380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00B050"/>
                </a:solidFill>
                <a:latin typeface="Arial"/>
              </a:rPr>
              <a:t>12-1,208x   </a:t>
            </a:r>
            <a:r>
              <a:rPr sz="2000" b="0">
                <a:solidFill>
                  <a:srgbClr val="000000"/>
                </a:solidFill>
                <a:latin typeface="Arial"/>
              </a:rPr>
              <a:t>over IC50: free at 99% bound, up to total. Free fraction unpublished.</a:t>
            </a:r>
          </a:p>
        </p:txBody>
      </p:sp>
      <p:sp>
        <p:nvSpPr>
          <p:cNvPr id="12" name="TextBox 11"/>
          <p:cNvSpPr txBox="1"/>
          <p:nvPr/>
        </p:nvSpPr>
        <p:spPr>
          <a:xfrm>
            <a:off x="4251960" y="6035040"/>
            <a:ext cx="7543800" cy="502920"/>
          </a:xfrm>
          <a:prstGeom prst="rect">
            <a:avLst/>
          </a:prstGeom>
          <a:noFill/>
        </p:spPr>
        <p:txBody>
          <a:bodyPr wrap="square">
            <a:spAutoFit/>
          </a:bodyPr>
          <a:lstStyle/>
          <a:p>
            <a:pPr algn="l">
              <a:spcAft>
                <a:spcPts val="600"/>
              </a:spcAft>
            </a:pPr>
            <a:r>
              <a:rPr sz="1300" b="0" i="0">
                <a:solidFill>
                  <a:srgbClr val="5C5C5C"/>
                </a:solidFill>
                <a:latin typeface="Arial"/>
              </a:rPr>
              <a:t>A RANGE, not a therapeutic index and not a safety margin: it shows substantial exposure is reachable, not that a safe paediatric window exists. Structure: PP2A-B56 with the BubR1 KARD bound (Bloom &amp; North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dose IS the hypothesis: set by the cells, not asserted</a:t>
            </a:r>
          </a:p>
        </p:txBody>
      </p:sp>
      <p:pic>
        <p:nvPicPr>
          <p:cNvPr id="3" name="Picture 2" descr="fig_window.png"/>
          <p:cNvPicPr>
            <a:picLocks noChangeAspect="1"/>
          </p:cNvPicPr>
          <p:nvPr/>
        </p:nvPicPr>
        <p:blipFill>
          <a:blip r:embed="rId2"/>
          <a:stretch>
            <a:fillRect/>
          </a:stretch>
        </p:blipFill>
        <p:spPr>
          <a:xfrm>
            <a:off x="320040" y="1217724"/>
            <a:ext cx="7086600" cy="4239671"/>
          </a:xfrm>
          <a:prstGeom prst="rect">
            <a:avLst/>
          </a:prstGeom>
        </p:spPr>
      </p:pic>
      <p:sp>
        <p:nvSpPr>
          <p:cNvPr id="4" name="Rounded Rectangle 3"/>
          <p:cNvSpPr/>
          <p:nvPr/>
        </p:nvSpPr>
        <p:spPr>
          <a:xfrm>
            <a:off x="7726679" y="1188720"/>
            <a:ext cx="4069080" cy="11887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00B050"/>
                </a:solidFill>
                <a:latin typeface="Arial"/>
              </a:rPr>
              <a:t>1-5 nM</a:t>
            </a:r>
          </a:p>
          <a:p>
            <a:pPr algn="ctr">
              <a:spcAft>
                <a:spcPts val="600"/>
              </a:spcAft>
            </a:pPr>
            <a:r>
              <a:rPr sz="1800" b="0" i="0">
                <a:solidFill>
                  <a:srgbClr val="000000"/>
                </a:solidFill>
                <a:latin typeface="Arial"/>
              </a:rPr>
              <a:t>free drug, the target</a:t>
            </a:r>
          </a:p>
        </p:txBody>
      </p:sp>
      <p:sp>
        <p:nvSpPr>
          <p:cNvPr id="5" name="Rounded Rectangle 4"/>
          <p:cNvSpPr/>
          <p:nvPr/>
        </p:nvSpPr>
        <p:spPr>
          <a:xfrm>
            <a:off x="7726679" y="2505456"/>
            <a:ext cx="4069080" cy="11887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F79646"/>
                </a:solidFill>
                <a:latin typeface="Arial"/>
              </a:rPr>
              <a:t>30-50%</a:t>
            </a:r>
          </a:p>
          <a:p>
            <a:pPr algn="ctr">
              <a:spcAft>
                <a:spcPts val="600"/>
              </a:spcAft>
            </a:pPr>
            <a:r>
              <a:rPr sz="1800" b="0" i="0">
                <a:solidFill>
                  <a:srgbClr val="000000"/>
                </a:solidFill>
                <a:latin typeface="Arial"/>
              </a:rPr>
              <a:t>loss of phospho-Hec1.
Never ablation.</a:t>
            </a:r>
          </a:p>
        </p:txBody>
      </p:sp>
      <p:sp>
        <p:nvSpPr>
          <p:cNvPr id="6" name="Rounded Rectangle 5"/>
          <p:cNvSpPr/>
          <p:nvPr/>
        </p:nvSpPr>
        <p:spPr>
          <a:xfrm>
            <a:off x="7726679" y="3822191"/>
            <a:ext cx="4069080" cy="11887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4F81BD"/>
                </a:solidFill>
                <a:latin typeface="Arial"/>
              </a:rPr>
              <a:t>0.1-30 nM</a:t>
            </a:r>
          </a:p>
          <a:p>
            <a:pPr algn="ctr">
              <a:spcAft>
                <a:spcPts val="600"/>
              </a:spcAft>
            </a:pPr>
            <a:r>
              <a:rPr sz="1800" b="0" i="0">
                <a:solidFill>
                  <a:srgbClr val="000000"/>
                </a:solidFill>
                <a:latin typeface="Arial"/>
              </a:rPr>
              <a:t>titrated in the child's
own fibroblasts</a:t>
            </a:r>
          </a:p>
        </p:txBody>
      </p:sp>
      <p:sp>
        <p:nvSpPr>
          <p:cNvPr id="7" name="Rounded Rectangle 6"/>
          <p:cNvSpPr/>
          <p:nvPr/>
        </p:nvSpPr>
        <p:spPr>
          <a:xfrm>
            <a:off x="7726679" y="5138928"/>
            <a:ext cx="4069080" cy="987552"/>
          </a:xfrm>
          <a:prstGeom prst="roundRect">
            <a:avLst>
              <a:gd name="adj" fmla="val 7000"/>
            </a:avLst>
          </a:prstGeom>
          <a:solidFill>
            <a:srgbClr val="F2F6F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C0392B"/>
                </a:solidFill>
                <a:latin typeface="Arial"/>
              </a:rPr>
              <a:t>Score MISSEGREGATION,</a:t>
            </a:r>
          </a:p>
          <a:p>
            <a:pPr algn="ctr">
              <a:spcAft>
                <a:spcPts val="600"/>
              </a:spcAft>
            </a:pPr>
            <a:r>
              <a:rPr sz="1900" b="0" i="0">
                <a:solidFill>
                  <a:srgbClr val="000000"/>
                </a:solidFill>
                <a:latin typeface="Arial"/>
              </a:rPr>
              <a:t>not alignment</a:t>
            </a:r>
          </a:p>
        </p:txBody>
      </p:sp>
      <p:sp>
        <p:nvSpPr>
          <p:cNvPr id="8" name="TextBox 7"/>
          <p:cNvSpPr txBox="1"/>
          <p:nvPr/>
        </p:nvSpPr>
        <p:spPr>
          <a:xfrm>
            <a:off x="411480" y="5715000"/>
            <a:ext cx="6949440" cy="548640"/>
          </a:xfrm>
          <a:prstGeom prst="rect">
            <a:avLst/>
          </a:prstGeom>
          <a:noFill/>
        </p:spPr>
        <p:txBody>
          <a:bodyPr wrap="square">
            <a:spAutoFit/>
          </a:bodyPr>
          <a:lstStyle/>
          <a:p>
            <a:pPr algn="ctr">
              <a:spcAft>
                <a:spcPts val="600"/>
              </a:spcAft>
            </a:pPr>
            <a:r>
              <a:rPr sz="1500" b="0" i="0">
                <a:solidFill>
                  <a:srgbClr val="5C5C5C"/>
                </a:solidFill>
                <a:latin typeface="Arial"/>
              </a:rPr>
              <a:t>Xu used ZM447439 — equipotent on Aurora A and B. Barasertib is the selective successor. The mechanism transfers; the numbers do not.</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Ditchfield 2003 · Xu 2013 · Santaguida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